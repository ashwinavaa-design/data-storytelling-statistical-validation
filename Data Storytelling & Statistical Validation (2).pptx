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9144000" cy="16256000"/>
  <p:embeddedFontLst>
    <p:embeddedFont>
      <p:font typeface="Liter" panose="020B0604020202020204" charset="0"/>
      <p:regular r:id="rId17"/>
    </p:embeddedFont>
    <p:embeddedFont>
      <p:font typeface="Quattrocento Sans" panose="020B0502050000020003" pitchFamily="3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AD31AD-2422-4E50-9DFE-79D4041FF87E}" v="1" dt="2026-05-10T08:46:11.2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5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esh k" userId="7b5b385c7514c1a0" providerId="LiveId" clId="{73889BAD-F437-4E4E-A763-7EB188F320E1}"/>
    <pc:docChg chg="modSld">
      <pc:chgData name="Rakesh k" userId="7b5b385c7514c1a0" providerId="LiveId" clId="{73889BAD-F437-4E4E-A763-7EB188F320E1}" dt="2026-05-10T08:46:13.240" v="28" actId="20577"/>
      <pc:docMkLst>
        <pc:docMk/>
      </pc:docMkLst>
      <pc:sldChg chg="modSp mod">
        <pc:chgData name="Rakesh k" userId="7b5b385c7514c1a0" providerId="LiveId" clId="{73889BAD-F437-4E4E-A763-7EB188F320E1}" dt="2026-05-10T08:46:13.240" v="28" actId="20577"/>
        <pc:sldMkLst>
          <pc:docMk/>
          <pc:sldMk cId="0" sldId="269"/>
        </pc:sldMkLst>
        <pc:spChg chg="mod">
          <ac:chgData name="Rakesh k" userId="7b5b385c7514c1a0" providerId="LiveId" clId="{73889BAD-F437-4E4E-A763-7EB188F320E1}" dt="2026-05-10T08:46:13.240" v="28" actId="20577"/>
          <ac:spMkLst>
            <pc:docMk/>
            <pc:sldMk cId="0" sldId="269"/>
            <ac:spMk id="5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2DD4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F1F5F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In-store</c:v>
                </c:pt>
                <c:pt idx="1">
                  <c:v>Takeaway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24.5</c:v>
                </c:pt>
                <c:pt idx="1">
                  <c:v>10.97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7D-4033-8B8D-F403A2AC24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34155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D4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9F4-4038-9B53-E356DAAAB02E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9F4-4038-9B53-E356DAAAB02E}"/>
              </c:ext>
            </c:extLst>
          </c:dPt>
          <c:dPt>
            <c:idx val="2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9F4-4038-9B53-E356DAAAB02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1F5F9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9F4-4038-9B53-E356DAAAB02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1F5F9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9F4-4038-9B53-E356DAAAB02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1F5F9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9F4-4038-9B53-E356DAAAB02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Digital Wallet</c:v>
                </c:pt>
                <c:pt idx="1">
                  <c:v>Credit Card</c:v>
                </c:pt>
                <c:pt idx="2">
                  <c:v>Cash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35</c:v>
                </c:pt>
                <c:pt idx="2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9F4-4038-9B53-E356DAAAB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2183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476500"/>
            <a:ext cx="1397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kern="0" spc="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STORYTELLING</a:t>
            </a:r>
            <a:endParaRPr lang="en-US" sz="5200" dirty="0"/>
          </a:p>
          <a:p>
            <a:pPr algn="ctr">
              <a:lnSpc>
                <a:spcPct val="120000"/>
              </a:lnSpc>
            </a:pPr>
            <a:r>
              <a:rPr lang="en-US" sz="5200" kern="0" spc="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STATISTICAL VALIDATION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6858000" y="4826000"/>
            <a:ext cx="2540000" cy="38100"/>
          </a:xfrm>
          <a:prstGeom prst="rect">
            <a:avLst/>
          </a:pr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83000" y="5207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Sales Data Analysis Project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318000" y="7366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Analyst Intern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2026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23200" y="6477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76200"/>
                </a:moveTo>
                <a:cubicBezTo>
                  <a:pt x="76200" y="55126"/>
                  <a:pt x="59174" y="38100"/>
                  <a:pt x="38100" y="38100"/>
                </a:cubicBezTo>
                <a:cubicBezTo>
                  <a:pt x="17026" y="38100"/>
                  <a:pt x="0" y="55126"/>
                  <a:pt x="0" y="76200"/>
                </a:cubicBezTo>
                <a:lnTo>
                  <a:pt x="0" y="476250"/>
                </a:lnTo>
                <a:cubicBezTo>
                  <a:pt x="0" y="528876"/>
                  <a:pt x="42624" y="571500"/>
                  <a:pt x="95250" y="571500"/>
                </a:cubicBezTo>
                <a:lnTo>
                  <a:pt x="571500" y="571500"/>
                </a:lnTo>
                <a:cubicBezTo>
                  <a:pt x="592574" y="571500"/>
                  <a:pt x="609600" y="554474"/>
                  <a:pt x="609600" y="533400"/>
                </a:cubicBezTo>
                <a:cubicBezTo>
                  <a:pt x="609600" y="512326"/>
                  <a:pt x="592574" y="495300"/>
                  <a:pt x="571500" y="495300"/>
                </a:cubicBezTo>
                <a:lnTo>
                  <a:pt x="95250" y="495300"/>
                </a:lnTo>
                <a:cubicBezTo>
                  <a:pt x="84773" y="495300"/>
                  <a:pt x="76200" y="486728"/>
                  <a:pt x="76200" y="476250"/>
                </a:cubicBezTo>
                <a:lnTo>
                  <a:pt x="76200" y="76200"/>
                </a:lnTo>
                <a:close/>
                <a:moveTo>
                  <a:pt x="560308" y="179308"/>
                </a:moveTo>
                <a:cubicBezTo>
                  <a:pt x="575191" y="164425"/>
                  <a:pt x="575191" y="140256"/>
                  <a:pt x="560308" y="125373"/>
                </a:cubicBezTo>
                <a:cubicBezTo>
                  <a:pt x="545425" y="110490"/>
                  <a:pt x="521256" y="110490"/>
                  <a:pt x="506373" y="125373"/>
                </a:cubicBezTo>
                <a:lnTo>
                  <a:pt x="381000" y="250865"/>
                </a:lnTo>
                <a:lnTo>
                  <a:pt x="312658" y="182642"/>
                </a:lnTo>
                <a:cubicBezTo>
                  <a:pt x="297775" y="167759"/>
                  <a:pt x="273606" y="167759"/>
                  <a:pt x="258723" y="182642"/>
                </a:cubicBezTo>
                <a:lnTo>
                  <a:pt x="144423" y="296942"/>
                </a:lnTo>
                <a:cubicBezTo>
                  <a:pt x="129540" y="311825"/>
                  <a:pt x="129540" y="335994"/>
                  <a:pt x="144423" y="350877"/>
                </a:cubicBezTo>
                <a:cubicBezTo>
                  <a:pt x="159306" y="365760"/>
                  <a:pt x="183475" y="365760"/>
                  <a:pt x="198358" y="350877"/>
                </a:cubicBezTo>
                <a:lnTo>
                  <a:pt x="285750" y="263485"/>
                </a:lnTo>
                <a:lnTo>
                  <a:pt x="354092" y="331827"/>
                </a:lnTo>
                <a:cubicBezTo>
                  <a:pt x="368975" y="346710"/>
                  <a:pt x="393144" y="346710"/>
                  <a:pt x="408027" y="331827"/>
                </a:cubicBezTo>
                <a:lnTo>
                  <a:pt x="560427" y="179427"/>
                </a:lnTo>
                <a:close/>
              </a:path>
            </a:pathLst>
          </a:cu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508000" cy="38100"/>
          </a:xfrm>
          <a:prstGeom prst="rect">
            <a:avLst/>
          </a:pr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4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AGENDA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2222500"/>
            <a:ext cx="1016000" cy="38100"/>
          </a:xfrm>
          <a:prstGeom prst="rect">
            <a:avLst/>
          </a:pr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62000" y="2794000"/>
            <a:ext cx="8890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200000"/>
              </a:lnSpc>
            </a:pPr>
            <a:r>
              <a:rPr lang="en-US" sz="2800" dirty="0">
                <a:solidFill>
                  <a:srgbClr val="2DD4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r>
              <a:rPr lang="en-US" sz="2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0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r>
              <a:rPr lang="en-US" sz="2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Business Objective &amp; Dataset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2800" dirty="0">
                <a:solidFill>
                  <a:srgbClr val="2DD4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r>
              <a:rPr lang="en-US" sz="2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0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Analysis</a:t>
            </a:r>
            <a:r>
              <a:rPr lang="en-US" sz="2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Key Metrics &amp; Visualizations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2800" dirty="0">
                <a:solidFill>
                  <a:srgbClr val="2DD4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r>
              <a:rPr lang="en-US" sz="2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0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</a:t>
            </a:r>
            <a:r>
              <a:rPr lang="en-US" sz="2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Key Findings from Data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2800" dirty="0">
                <a:solidFill>
                  <a:srgbClr val="2DD4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r>
              <a:rPr lang="en-US" sz="2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0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Hypothesis Testing</a:t>
            </a:r>
            <a:r>
              <a:rPr lang="en-US" sz="2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Statistical Validation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2800" dirty="0">
                <a:solidFill>
                  <a:srgbClr val="2DD4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r>
              <a:rPr lang="en-US" sz="2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0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Recommendations</a:t>
            </a:r>
            <a:r>
              <a:rPr lang="en-US" sz="2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Actionable Next Steps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414000" y="1270000"/>
            <a:ext cx="0" cy="660400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1525250" y="3175000"/>
            <a:ext cx="2857500" cy="2540000"/>
          </a:xfrm>
          <a:custGeom>
            <a:avLst/>
            <a:gdLst/>
            <a:ahLst/>
            <a:cxnLst/>
            <a:rect l="l" t="t" r="r" b="b"/>
            <a:pathLst>
              <a:path w="2857500" h="2540000">
                <a:moveTo>
                  <a:pt x="2541984" y="1190625"/>
                </a:moveTo>
                <a:lnTo>
                  <a:pt x="1668859" y="1190625"/>
                </a:lnTo>
                <a:cubicBezTo>
                  <a:pt x="1581051" y="1190625"/>
                  <a:pt x="1510109" y="1119684"/>
                  <a:pt x="1510109" y="1031875"/>
                </a:cubicBezTo>
                <a:lnTo>
                  <a:pt x="1510109" y="158750"/>
                </a:lnTo>
                <a:cubicBezTo>
                  <a:pt x="1510109" y="70941"/>
                  <a:pt x="1581547" y="-992"/>
                  <a:pt x="1668363" y="10418"/>
                </a:cubicBezTo>
                <a:cubicBezTo>
                  <a:pt x="2199184" y="80863"/>
                  <a:pt x="2619871" y="501551"/>
                  <a:pt x="2690316" y="1032371"/>
                </a:cubicBezTo>
                <a:cubicBezTo>
                  <a:pt x="2701727" y="1119188"/>
                  <a:pt x="2629793" y="1190625"/>
                  <a:pt x="2541984" y="1190625"/>
                </a:cubicBezTo>
                <a:close/>
                <a:moveTo>
                  <a:pt x="1104305" y="184547"/>
                </a:moveTo>
                <a:cubicBezTo>
                  <a:pt x="1194098" y="165695"/>
                  <a:pt x="1271984" y="239117"/>
                  <a:pt x="1271984" y="330895"/>
                </a:cubicBezTo>
                <a:lnTo>
                  <a:pt x="1271984" y="1309687"/>
                </a:lnTo>
                <a:cubicBezTo>
                  <a:pt x="1271984" y="1337469"/>
                  <a:pt x="1281906" y="1364258"/>
                  <a:pt x="1299270" y="1385590"/>
                </a:cubicBezTo>
                <a:lnTo>
                  <a:pt x="1954609" y="2176363"/>
                </a:lnTo>
                <a:cubicBezTo>
                  <a:pt x="2012652" y="2246313"/>
                  <a:pt x="2000250" y="2351980"/>
                  <a:pt x="1920379" y="2395141"/>
                </a:cubicBezTo>
                <a:cubicBezTo>
                  <a:pt x="1751211" y="2487414"/>
                  <a:pt x="1557238" y="2540000"/>
                  <a:pt x="1351359" y="2540000"/>
                </a:cubicBezTo>
                <a:cubicBezTo>
                  <a:pt x="694035" y="2540000"/>
                  <a:pt x="160734" y="2006699"/>
                  <a:pt x="160734" y="1349375"/>
                </a:cubicBezTo>
                <a:cubicBezTo>
                  <a:pt x="160734" y="776387"/>
                  <a:pt x="565051" y="298152"/>
                  <a:pt x="1104305" y="184547"/>
                </a:cubicBezTo>
                <a:close/>
                <a:moveTo>
                  <a:pt x="2370336" y="1428750"/>
                </a:moveTo>
                <a:lnTo>
                  <a:pt x="2687836" y="1428750"/>
                </a:lnTo>
                <a:cubicBezTo>
                  <a:pt x="2779613" y="1428750"/>
                  <a:pt x="2853035" y="1506637"/>
                  <a:pt x="2834184" y="1596430"/>
                </a:cubicBezTo>
                <a:cubicBezTo>
                  <a:pt x="2783582" y="1836539"/>
                  <a:pt x="2660551" y="2049859"/>
                  <a:pt x="2488902" y="2212578"/>
                </a:cubicBezTo>
                <a:cubicBezTo>
                  <a:pt x="2427883" y="2270621"/>
                  <a:pt x="2332137" y="2258219"/>
                  <a:pt x="2278559" y="2193230"/>
                </a:cubicBezTo>
                <a:lnTo>
                  <a:pt x="1859855" y="1688703"/>
                </a:lnTo>
                <a:cubicBezTo>
                  <a:pt x="1774031" y="1585020"/>
                  <a:pt x="1847949" y="1428750"/>
                  <a:pt x="1981895" y="1428750"/>
                </a:cubicBezTo>
                <a:lnTo>
                  <a:pt x="2369840" y="1428750"/>
                </a:lnTo>
                <a:close/>
              </a:path>
            </a:pathLst>
          </a:custGeom>
          <a:solidFill>
            <a:srgbClr val="1A2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 OF CONTENTS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508000" cy="38100"/>
          </a:xfrm>
          <a:prstGeom prst="rect">
            <a:avLst/>
          </a:pr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10795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Objective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50800" cy="1016000"/>
          </a:xfrm>
          <a:prstGeom prst="rect">
            <a:avLst/>
          </a:pr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16000" y="2159000"/>
            <a:ext cx="1397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DD4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Purpose:</a:t>
            </a:r>
            <a:r>
              <a:rPr lang="en-US" sz="20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Transform raw sales data into actionable business intelligence through storytelling and statistical validation.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3683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Business Questions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50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77800" y="122238"/>
                </a:moveTo>
                <a:cubicBezTo>
                  <a:pt x="165507" y="122238"/>
                  <a:pt x="155575" y="132169"/>
                  <a:pt x="155575" y="144463"/>
                </a:cubicBezTo>
                <a:cubicBezTo>
                  <a:pt x="155575" y="153700"/>
                  <a:pt x="148144" y="161131"/>
                  <a:pt x="138906" y="161131"/>
                </a:cubicBezTo>
                <a:cubicBezTo>
                  <a:pt x="129669" y="161131"/>
                  <a:pt x="122238" y="153700"/>
                  <a:pt x="122238" y="144463"/>
                </a:cubicBezTo>
                <a:cubicBezTo>
                  <a:pt x="122238" y="113764"/>
                  <a:pt x="147102" y="88900"/>
                  <a:pt x="177800" y="88900"/>
                </a:cubicBezTo>
                <a:cubicBezTo>
                  <a:pt x="208498" y="88900"/>
                  <a:pt x="233363" y="113764"/>
                  <a:pt x="233363" y="144463"/>
                </a:cubicBezTo>
                <a:cubicBezTo>
                  <a:pt x="233363" y="177244"/>
                  <a:pt x="208359" y="191135"/>
                  <a:pt x="194469" y="196205"/>
                </a:cubicBezTo>
                <a:lnTo>
                  <a:pt x="194469" y="198844"/>
                </a:lnTo>
                <a:cubicBezTo>
                  <a:pt x="194469" y="208082"/>
                  <a:pt x="187037" y="215513"/>
                  <a:pt x="177800" y="215513"/>
                </a:cubicBezTo>
                <a:cubicBezTo>
                  <a:pt x="168563" y="215513"/>
                  <a:pt x="161131" y="208082"/>
                  <a:pt x="161131" y="198844"/>
                </a:cubicBezTo>
                <a:lnTo>
                  <a:pt x="161131" y="193219"/>
                </a:lnTo>
                <a:cubicBezTo>
                  <a:pt x="161131" y="178981"/>
                  <a:pt x="171410" y="168771"/>
                  <a:pt x="182037" y="165298"/>
                </a:cubicBezTo>
                <a:cubicBezTo>
                  <a:pt x="186482" y="163840"/>
                  <a:pt x="191204" y="161479"/>
                  <a:pt x="194677" y="158145"/>
                </a:cubicBezTo>
                <a:cubicBezTo>
                  <a:pt x="197664" y="155228"/>
                  <a:pt x="200025" y="151199"/>
                  <a:pt x="200025" y="144532"/>
                </a:cubicBezTo>
                <a:cubicBezTo>
                  <a:pt x="200025" y="132239"/>
                  <a:pt x="190093" y="122307"/>
                  <a:pt x="177800" y="122307"/>
                </a:cubicBezTo>
                <a:close/>
                <a:moveTo>
                  <a:pt x="155575" y="255587"/>
                </a:moveTo>
                <a:cubicBezTo>
                  <a:pt x="155575" y="243321"/>
                  <a:pt x="165534" y="233363"/>
                  <a:pt x="177800" y="233363"/>
                </a:cubicBezTo>
                <a:cubicBezTo>
                  <a:pt x="190066" y="233363"/>
                  <a:pt x="200025" y="243321"/>
                  <a:pt x="200025" y="255587"/>
                </a:cubicBezTo>
                <a:cubicBezTo>
                  <a:pt x="200025" y="267854"/>
                  <a:pt x="190066" y="277813"/>
                  <a:pt x="177800" y="277813"/>
                </a:cubicBezTo>
                <a:cubicBezTo>
                  <a:pt x="165534" y="277813"/>
                  <a:pt x="155575" y="267854"/>
                  <a:pt x="155575" y="255587"/>
                </a:cubicBezTo>
                <a:close/>
              </a:path>
            </a:pathLst>
          </a:cu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270000" y="44450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are the overall sales trends and performance patterns?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62000" y="552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77800" y="122238"/>
                </a:moveTo>
                <a:cubicBezTo>
                  <a:pt x="165507" y="122238"/>
                  <a:pt x="155575" y="132169"/>
                  <a:pt x="155575" y="144463"/>
                </a:cubicBezTo>
                <a:cubicBezTo>
                  <a:pt x="155575" y="153700"/>
                  <a:pt x="148144" y="161131"/>
                  <a:pt x="138906" y="161131"/>
                </a:cubicBezTo>
                <a:cubicBezTo>
                  <a:pt x="129669" y="161131"/>
                  <a:pt x="122238" y="153700"/>
                  <a:pt x="122238" y="144463"/>
                </a:cubicBezTo>
                <a:cubicBezTo>
                  <a:pt x="122238" y="113764"/>
                  <a:pt x="147102" y="88900"/>
                  <a:pt x="177800" y="88900"/>
                </a:cubicBezTo>
                <a:cubicBezTo>
                  <a:pt x="208498" y="88900"/>
                  <a:pt x="233363" y="113764"/>
                  <a:pt x="233363" y="144463"/>
                </a:cubicBezTo>
                <a:cubicBezTo>
                  <a:pt x="233363" y="177244"/>
                  <a:pt x="208359" y="191135"/>
                  <a:pt x="194469" y="196205"/>
                </a:cubicBezTo>
                <a:lnTo>
                  <a:pt x="194469" y="198844"/>
                </a:lnTo>
                <a:cubicBezTo>
                  <a:pt x="194469" y="208082"/>
                  <a:pt x="187037" y="215513"/>
                  <a:pt x="177800" y="215513"/>
                </a:cubicBezTo>
                <a:cubicBezTo>
                  <a:pt x="168563" y="215513"/>
                  <a:pt x="161131" y="208082"/>
                  <a:pt x="161131" y="198844"/>
                </a:cubicBezTo>
                <a:lnTo>
                  <a:pt x="161131" y="193219"/>
                </a:lnTo>
                <a:cubicBezTo>
                  <a:pt x="161131" y="178981"/>
                  <a:pt x="171410" y="168771"/>
                  <a:pt x="182037" y="165298"/>
                </a:cubicBezTo>
                <a:cubicBezTo>
                  <a:pt x="186482" y="163840"/>
                  <a:pt x="191204" y="161479"/>
                  <a:pt x="194677" y="158145"/>
                </a:cubicBezTo>
                <a:cubicBezTo>
                  <a:pt x="197664" y="155228"/>
                  <a:pt x="200025" y="151199"/>
                  <a:pt x="200025" y="144532"/>
                </a:cubicBezTo>
                <a:cubicBezTo>
                  <a:pt x="200025" y="132239"/>
                  <a:pt x="190093" y="122307"/>
                  <a:pt x="177800" y="122307"/>
                </a:cubicBezTo>
                <a:close/>
                <a:moveTo>
                  <a:pt x="155575" y="255587"/>
                </a:moveTo>
                <a:cubicBezTo>
                  <a:pt x="155575" y="243321"/>
                  <a:pt x="165534" y="233363"/>
                  <a:pt x="177800" y="233363"/>
                </a:cubicBezTo>
                <a:cubicBezTo>
                  <a:pt x="190066" y="233363"/>
                  <a:pt x="200025" y="243321"/>
                  <a:pt x="200025" y="255587"/>
                </a:cubicBezTo>
                <a:cubicBezTo>
                  <a:pt x="200025" y="267854"/>
                  <a:pt x="190066" y="277813"/>
                  <a:pt x="177800" y="277813"/>
                </a:cubicBezTo>
                <a:cubicBezTo>
                  <a:pt x="165534" y="277813"/>
                  <a:pt x="155575" y="267854"/>
                  <a:pt x="155575" y="255587"/>
                </a:cubicBezTo>
                <a:close/>
              </a:path>
            </a:pathLst>
          </a:cu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270000" y="54610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How does customer behavior vary by location and payment method?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382000" y="450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77800" y="122238"/>
                </a:moveTo>
                <a:cubicBezTo>
                  <a:pt x="165507" y="122238"/>
                  <a:pt x="155575" y="132169"/>
                  <a:pt x="155575" y="144463"/>
                </a:cubicBezTo>
                <a:cubicBezTo>
                  <a:pt x="155575" y="153700"/>
                  <a:pt x="148144" y="161131"/>
                  <a:pt x="138906" y="161131"/>
                </a:cubicBezTo>
                <a:cubicBezTo>
                  <a:pt x="129669" y="161131"/>
                  <a:pt x="122238" y="153700"/>
                  <a:pt x="122238" y="144463"/>
                </a:cubicBezTo>
                <a:cubicBezTo>
                  <a:pt x="122238" y="113764"/>
                  <a:pt x="147102" y="88900"/>
                  <a:pt x="177800" y="88900"/>
                </a:cubicBezTo>
                <a:cubicBezTo>
                  <a:pt x="208498" y="88900"/>
                  <a:pt x="233363" y="113764"/>
                  <a:pt x="233363" y="144463"/>
                </a:cubicBezTo>
                <a:cubicBezTo>
                  <a:pt x="233363" y="177244"/>
                  <a:pt x="208359" y="191135"/>
                  <a:pt x="194469" y="196205"/>
                </a:cubicBezTo>
                <a:lnTo>
                  <a:pt x="194469" y="198844"/>
                </a:lnTo>
                <a:cubicBezTo>
                  <a:pt x="194469" y="208082"/>
                  <a:pt x="187037" y="215513"/>
                  <a:pt x="177800" y="215513"/>
                </a:cubicBezTo>
                <a:cubicBezTo>
                  <a:pt x="168563" y="215513"/>
                  <a:pt x="161131" y="208082"/>
                  <a:pt x="161131" y="198844"/>
                </a:cubicBezTo>
                <a:lnTo>
                  <a:pt x="161131" y="193219"/>
                </a:lnTo>
                <a:cubicBezTo>
                  <a:pt x="161131" y="178981"/>
                  <a:pt x="171410" y="168771"/>
                  <a:pt x="182037" y="165298"/>
                </a:cubicBezTo>
                <a:cubicBezTo>
                  <a:pt x="186482" y="163840"/>
                  <a:pt x="191204" y="161479"/>
                  <a:pt x="194677" y="158145"/>
                </a:cubicBezTo>
                <a:cubicBezTo>
                  <a:pt x="197664" y="155228"/>
                  <a:pt x="200025" y="151199"/>
                  <a:pt x="200025" y="144532"/>
                </a:cubicBezTo>
                <a:cubicBezTo>
                  <a:pt x="200025" y="132239"/>
                  <a:pt x="190093" y="122307"/>
                  <a:pt x="177800" y="122307"/>
                </a:cubicBezTo>
                <a:close/>
                <a:moveTo>
                  <a:pt x="155575" y="255587"/>
                </a:moveTo>
                <a:cubicBezTo>
                  <a:pt x="155575" y="243321"/>
                  <a:pt x="165534" y="233363"/>
                  <a:pt x="177800" y="233363"/>
                </a:cubicBezTo>
                <a:cubicBezTo>
                  <a:pt x="190066" y="233363"/>
                  <a:pt x="200025" y="243321"/>
                  <a:pt x="200025" y="255587"/>
                </a:cubicBezTo>
                <a:cubicBezTo>
                  <a:pt x="200025" y="267854"/>
                  <a:pt x="190066" y="277813"/>
                  <a:pt x="177800" y="277813"/>
                </a:cubicBezTo>
                <a:cubicBezTo>
                  <a:pt x="165534" y="277813"/>
                  <a:pt x="155575" y="267854"/>
                  <a:pt x="155575" y="255587"/>
                </a:cubicBezTo>
                <a:close/>
              </a:path>
            </a:pathLst>
          </a:cu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890000" y="44450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Which products drive revenue and which need attention?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382000" y="552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77800" y="122238"/>
                </a:moveTo>
                <a:cubicBezTo>
                  <a:pt x="165507" y="122238"/>
                  <a:pt x="155575" y="132169"/>
                  <a:pt x="155575" y="144463"/>
                </a:cubicBezTo>
                <a:cubicBezTo>
                  <a:pt x="155575" y="153700"/>
                  <a:pt x="148144" y="161131"/>
                  <a:pt x="138906" y="161131"/>
                </a:cubicBezTo>
                <a:cubicBezTo>
                  <a:pt x="129669" y="161131"/>
                  <a:pt x="122238" y="153700"/>
                  <a:pt x="122238" y="144463"/>
                </a:cubicBezTo>
                <a:cubicBezTo>
                  <a:pt x="122238" y="113764"/>
                  <a:pt x="147102" y="88900"/>
                  <a:pt x="177800" y="88900"/>
                </a:cubicBezTo>
                <a:cubicBezTo>
                  <a:pt x="208498" y="88900"/>
                  <a:pt x="233363" y="113764"/>
                  <a:pt x="233363" y="144463"/>
                </a:cubicBezTo>
                <a:cubicBezTo>
                  <a:pt x="233363" y="177244"/>
                  <a:pt x="208359" y="191135"/>
                  <a:pt x="194469" y="196205"/>
                </a:cubicBezTo>
                <a:lnTo>
                  <a:pt x="194469" y="198844"/>
                </a:lnTo>
                <a:cubicBezTo>
                  <a:pt x="194469" y="208082"/>
                  <a:pt x="187037" y="215513"/>
                  <a:pt x="177800" y="215513"/>
                </a:cubicBezTo>
                <a:cubicBezTo>
                  <a:pt x="168563" y="215513"/>
                  <a:pt x="161131" y="208082"/>
                  <a:pt x="161131" y="198844"/>
                </a:cubicBezTo>
                <a:lnTo>
                  <a:pt x="161131" y="193219"/>
                </a:lnTo>
                <a:cubicBezTo>
                  <a:pt x="161131" y="178981"/>
                  <a:pt x="171410" y="168771"/>
                  <a:pt x="182037" y="165298"/>
                </a:cubicBezTo>
                <a:cubicBezTo>
                  <a:pt x="186482" y="163840"/>
                  <a:pt x="191204" y="161479"/>
                  <a:pt x="194677" y="158145"/>
                </a:cubicBezTo>
                <a:cubicBezTo>
                  <a:pt x="197664" y="155228"/>
                  <a:pt x="200025" y="151199"/>
                  <a:pt x="200025" y="144532"/>
                </a:cubicBezTo>
                <a:cubicBezTo>
                  <a:pt x="200025" y="132239"/>
                  <a:pt x="190093" y="122307"/>
                  <a:pt x="177800" y="122307"/>
                </a:cubicBezTo>
                <a:close/>
                <a:moveTo>
                  <a:pt x="155575" y="255587"/>
                </a:moveTo>
                <a:cubicBezTo>
                  <a:pt x="155575" y="243321"/>
                  <a:pt x="165534" y="233363"/>
                  <a:pt x="177800" y="233363"/>
                </a:cubicBezTo>
                <a:cubicBezTo>
                  <a:pt x="190066" y="233363"/>
                  <a:pt x="200025" y="243321"/>
                  <a:pt x="200025" y="255587"/>
                </a:cubicBezTo>
                <a:cubicBezTo>
                  <a:pt x="200025" y="267854"/>
                  <a:pt x="190066" y="277813"/>
                  <a:pt x="177800" y="277813"/>
                </a:cubicBezTo>
                <a:cubicBezTo>
                  <a:pt x="165534" y="277813"/>
                  <a:pt x="155575" y="267854"/>
                  <a:pt x="155575" y="255587"/>
                </a:cubicBezTo>
                <a:close/>
              </a:path>
            </a:pathLst>
          </a:cu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890000" y="54610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 we validate insights statistically for confident decision-making?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OVERVIEW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508000" cy="38100"/>
          </a:xfrm>
          <a:prstGeom prst="rect">
            <a:avLst/>
          </a:pr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10795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62000" y="1905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D4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Source:</a:t>
            </a: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Power BI Dashboard — Sales Transaction Records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540000"/>
          <a:ext cx="14732000" cy="5080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F141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 Field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F141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F141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 Values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Price per Unit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Individual item pricing data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$3.50, $5.00, $7.25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Quantity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Number of items per transaction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1, 2, 3, 5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Total Spent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Transaction value (Price × Qty)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$10.50, $35.00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Payment Method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How customer paid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Digital Wallet, Cash, Credit Card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Location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Purchase channel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In-store, Takeaway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Item Category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Product type sold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Salad, Sandwich, Coffee, Smoothie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 Scope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Complete transaction-level records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Full dataset analyzed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OVERVIEW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508000" cy="38100"/>
          </a:xfrm>
          <a:prstGeom prst="rect">
            <a:avLst/>
          </a:pr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10795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Metrics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4572000" cy="48260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857500" y="2794000"/>
            <a:ext cx="381000" cy="609600"/>
          </a:xfrm>
          <a:custGeom>
            <a:avLst/>
            <a:gdLst/>
            <a:ahLst/>
            <a:cxnLst/>
            <a:rect l="l" t="t" r="r" b="b"/>
            <a:pathLst>
              <a:path w="381000" h="609600">
                <a:moveTo>
                  <a:pt x="161925" y="28575"/>
                </a:moveTo>
                <a:cubicBezTo>
                  <a:pt x="161925" y="12740"/>
                  <a:pt x="174665" y="0"/>
                  <a:pt x="190500" y="0"/>
                </a:cubicBezTo>
                <a:cubicBezTo>
                  <a:pt x="206335" y="0"/>
                  <a:pt x="219075" y="12740"/>
                  <a:pt x="219075" y="28575"/>
                </a:cubicBezTo>
                <a:lnTo>
                  <a:pt x="219075" y="76200"/>
                </a:lnTo>
                <a:lnTo>
                  <a:pt x="285750" y="76200"/>
                </a:lnTo>
                <a:cubicBezTo>
                  <a:pt x="306824" y="76200"/>
                  <a:pt x="323850" y="93226"/>
                  <a:pt x="323850" y="114300"/>
                </a:cubicBezTo>
                <a:cubicBezTo>
                  <a:pt x="323850" y="135374"/>
                  <a:pt x="306824" y="152400"/>
                  <a:pt x="285750" y="152400"/>
                </a:cubicBezTo>
                <a:lnTo>
                  <a:pt x="148947" y="152400"/>
                </a:lnTo>
                <a:cubicBezTo>
                  <a:pt x="119301" y="152400"/>
                  <a:pt x="95250" y="176451"/>
                  <a:pt x="95250" y="206097"/>
                </a:cubicBezTo>
                <a:cubicBezTo>
                  <a:pt x="95250" y="232886"/>
                  <a:pt x="114895" y="255508"/>
                  <a:pt x="141327" y="259318"/>
                </a:cubicBezTo>
                <a:lnTo>
                  <a:pt x="250388" y="274915"/>
                </a:lnTo>
                <a:cubicBezTo>
                  <a:pt x="314444" y="284083"/>
                  <a:pt x="361950" y="338852"/>
                  <a:pt x="361950" y="403503"/>
                </a:cubicBezTo>
                <a:cubicBezTo>
                  <a:pt x="361950" y="475298"/>
                  <a:pt x="303728" y="533400"/>
                  <a:pt x="232053" y="533400"/>
                </a:cubicBezTo>
                <a:lnTo>
                  <a:pt x="219075" y="533400"/>
                </a:lnTo>
                <a:lnTo>
                  <a:pt x="219075" y="581025"/>
                </a:lnTo>
                <a:cubicBezTo>
                  <a:pt x="219075" y="596860"/>
                  <a:pt x="206335" y="609600"/>
                  <a:pt x="190500" y="609600"/>
                </a:cubicBezTo>
                <a:cubicBezTo>
                  <a:pt x="174665" y="609600"/>
                  <a:pt x="161925" y="596860"/>
                  <a:pt x="161925" y="581025"/>
                </a:cubicBezTo>
                <a:lnTo>
                  <a:pt x="161925" y="533400"/>
                </a:lnTo>
                <a:lnTo>
                  <a:pt x="76200" y="533400"/>
                </a:lnTo>
                <a:cubicBezTo>
                  <a:pt x="55126" y="533400"/>
                  <a:pt x="38100" y="516374"/>
                  <a:pt x="38100" y="495300"/>
                </a:cubicBezTo>
                <a:cubicBezTo>
                  <a:pt x="38100" y="474226"/>
                  <a:pt x="55126" y="457200"/>
                  <a:pt x="76200" y="457200"/>
                </a:cubicBezTo>
                <a:lnTo>
                  <a:pt x="232053" y="457200"/>
                </a:lnTo>
                <a:cubicBezTo>
                  <a:pt x="261699" y="457200"/>
                  <a:pt x="285750" y="433149"/>
                  <a:pt x="285750" y="403503"/>
                </a:cubicBezTo>
                <a:cubicBezTo>
                  <a:pt x="285750" y="376714"/>
                  <a:pt x="266105" y="354092"/>
                  <a:pt x="239673" y="350282"/>
                </a:cubicBezTo>
                <a:lnTo>
                  <a:pt x="130612" y="334685"/>
                </a:lnTo>
                <a:cubicBezTo>
                  <a:pt x="66556" y="325636"/>
                  <a:pt x="19050" y="270748"/>
                  <a:pt x="19050" y="206097"/>
                </a:cubicBezTo>
                <a:cubicBezTo>
                  <a:pt x="19050" y="134422"/>
                  <a:pt x="77272" y="76200"/>
                  <a:pt x="148947" y="76200"/>
                </a:cubicBezTo>
                <a:lnTo>
                  <a:pt x="161925" y="76200"/>
                </a:lnTo>
                <a:lnTo>
                  <a:pt x="161925" y="28575"/>
                </a:lnTo>
                <a:close/>
              </a:path>
            </a:pathLst>
          </a:cu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62000" y="3683000"/>
            <a:ext cx="4572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800" dirty="0">
                <a:solidFill>
                  <a:srgbClr val="2DD4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$35.47K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62000" y="4699000"/>
            <a:ext cx="457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TOTAL SALES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5207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Overall revenue from all transactions across all categories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000" y="2286000"/>
            <a:ext cx="4572000" cy="48260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747000" y="27940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28575" y="-19050"/>
                </a:moveTo>
                <a:cubicBezTo>
                  <a:pt x="12740" y="-19050"/>
                  <a:pt x="0" y="-6310"/>
                  <a:pt x="0" y="9525"/>
                </a:cubicBezTo>
                <a:cubicBezTo>
                  <a:pt x="0" y="25360"/>
                  <a:pt x="12740" y="38100"/>
                  <a:pt x="28575" y="38100"/>
                </a:cubicBezTo>
                <a:lnTo>
                  <a:pt x="82510" y="38100"/>
                </a:lnTo>
                <a:cubicBezTo>
                  <a:pt x="87154" y="38100"/>
                  <a:pt x="91083" y="41434"/>
                  <a:pt x="91916" y="45958"/>
                </a:cubicBezTo>
                <a:lnTo>
                  <a:pt x="153948" y="386834"/>
                </a:lnTo>
                <a:cubicBezTo>
                  <a:pt x="161330" y="427553"/>
                  <a:pt x="196810" y="457200"/>
                  <a:pt x="238244" y="457200"/>
                </a:cubicBezTo>
                <a:lnTo>
                  <a:pt x="542925" y="457200"/>
                </a:lnTo>
                <a:cubicBezTo>
                  <a:pt x="558760" y="457200"/>
                  <a:pt x="571500" y="444460"/>
                  <a:pt x="571500" y="428625"/>
                </a:cubicBezTo>
                <a:cubicBezTo>
                  <a:pt x="571500" y="412790"/>
                  <a:pt x="558760" y="400050"/>
                  <a:pt x="542925" y="400050"/>
                </a:cubicBezTo>
                <a:lnTo>
                  <a:pt x="238244" y="400050"/>
                </a:lnTo>
                <a:cubicBezTo>
                  <a:pt x="224433" y="400050"/>
                  <a:pt x="212646" y="390168"/>
                  <a:pt x="210145" y="376595"/>
                </a:cubicBezTo>
                <a:lnTo>
                  <a:pt x="204073" y="342900"/>
                </a:lnTo>
                <a:lnTo>
                  <a:pt x="565547" y="342900"/>
                </a:lnTo>
                <a:cubicBezTo>
                  <a:pt x="602218" y="342900"/>
                  <a:pt x="633651" y="316825"/>
                  <a:pt x="640437" y="280749"/>
                </a:cubicBezTo>
                <a:lnTo>
                  <a:pt x="677347" y="83225"/>
                </a:lnTo>
                <a:cubicBezTo>
                  <a:pt x="681752" y="59769"/>
                  <a:pt x="663773" y="38100"/>
                  <a:pt x="639842" y="38100"/>
                </a:cubicBezTo>
                <a:lnTo>
                  <a:pt x="148471" y="38100"/>
                </a:lnTo>
                <a:lnTo>
                  <a:pt x="147995" y="35719"/>
                </a:lnTo>
                <a:cubicBezTo>
                  <a:pt x="142280" y="4048"/>
                  <a:pt x="114657" y="-19050"/>
                  <a:pt x="82391" y="-19050"/>
                </a:cubicBezTo>
                <a:lnTo>
                  <a:pt x="28575" y="-19050"/>
                </a:lnTo>
                <a:close/>
                <a:moveTo>
                  <a:pt x="247650" y="609600"/>
                </a:moveTo>
                <a:cubicBezTo>
                  <a:pt x="279192" y="609600"/>
                  <a:pt x="304800" y="583992"/>
                  <a:pt x="304800" y="552450"/>
                </a:cubicBezTo>
                <a:cubicBezTo>
                  <a:pt x="304800" y="520908"/>
                  <a:pt x="279192" y="495300"/>
                  <a:pt x="247650" y="495300"/>
                </a:cubicBezTo>
                <a:cubicBezTo>
                  <a:pt x="216108" y="495300"/>
                  <a:pt x="190500" y="520908"/>
                  <a:pt x="190500" y="552450"/>
                </a:cubicBezTo>
                <a:cubicBezTo>
                  <a:pt x="190500" y="583992"/>
                  <a:pt x="216108" y="609600"/>
                  <a:pt x="247650" y="609600"/>
                </a:cubicBezTo>
                <a:close/>
                <a:moveTo>
                  <a:pt x="514350" y="609600"/>
                </a:moveTo>
                <a:cubicBezTo>
                  <a:pt x="545892" y="609600"/>
                  <a:pt x="571500" y="583992"/>
                  <a:pt x="571500" y="552450"/>
                </a:cubicBezTo>
                <a:cubicBezTo>
                  <a:pt x="571500" y="520908"/>
                  <a:pt x="545892" y="495300"/>
                  <a:pt x="514350" y="495300"/>
                </a:cubicBezTo>
                <a:cubicBezTo>
                  <a:pt x="482808" y="495300"/>
                  <a:pt x="457200" y="520908"/>
                  <a:pt x="457200" y="552450"/>
                </a:cubicBezTo>
                <a:cubicBezTo>
                  <a:pt x="457200" y="583992"/>
                  <a:pt x="482808" y="609600"/>
                  <a:pt x="514350" y="609600"/>
                </a:cubicBezTo>
                <a:close/>
              </a:path>
            </a:pathLst>
          </a:cu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842000" y="3683000"/>
            <a:ext cx="4572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800" dirty="0">
                <a:solidFill>
                  <a:srgbClr val="2DD4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12K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5842000" y="4699000"/>
            <a:ext cx="457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TOTAL QUANTITY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23000" y="5207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units sold across all product categories and locations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22000" y="2286000"/>
            <a:ext cx="4572000" cy="48260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2903200" y="279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8695" y="114300"/>
                </a:moveTo>
                <a:lnTo>
                  <a:pt x="38695" y="292298"/>
                </a:lnTo>
                <a:cubicBezTo>
                  <a:pt x="38695" y="312539"/>
                  <a:pt x="46673" y="331946"/>
                  <a:pt x="60960" y="346234"/>
                </a:cubicBezTo>
                <a:lnTo>
                  <a:pt x="289560" y="574834"/>
                </a:lnTo>
                <a:cubicBezTo>
                  <a:pt x="319326" y="604599"/>
                  <a:pt x="367546" y="604599"/>
                  <a:pt x="397312" y="574834"/>
                </a:cubicBezTo>
                <a:lnTo>
                  <a:pt x="575310" y="396835"/>
                </a:lnTo>
                <a:cubicBezTo>
                  <a:pt x="605076" y="367070"/>
                  <a:pt x="605076" y="318849"/>
                  <a:pt x="575310" y="289084"/>
                </a:cubicBezTo>
                <a:lnTo>
                  <a:pt x="346710" y="60484"/>
                </a:lnTo>
                <a:cubicBezTo>
                  <a:pt x="332423" y="46077"/>
                  <a:pt x="313134" y="38100"/>
                  <a:pt x="292894" y="38100"/>
                </a:cubicBezTo>
                <a:lnTo>
                  <a:pt x="114895" y="38100"/>
                </a:lnTo>
                <a:cubicBezTo>
                  <a:pt x="72866" y="38100"/>
                  <a:pt x="38695" y="72271"/>
                  <a:pt x="38695" y="114300"/>
                </a:cubicBezTo>
                <a:close/>
                <a:moveTo>
                  <a:pt x="172045" y="133350"/>
                </a:moveTo>
                <a:cubicBezTo>
                  <a:pt x="193073" y="133350"/>
                  <a:pt x="210145" y="150422"/>
                  <a:pt x="210145" y="171450"/>
                </a:cubicBezTo>
                <a:cubicBezTo>
                  <a:pt x="210145" y="192478"/>
                  <a:pt x="193073" y="209550"/>
                  <a:pt x="172045" y="209550"/>
                </a:cubicBezTo>
                <a:cubicBezTo>
                  <a:pt x="151017" y="209550"/>
                  <a:pt x="133945" y="192478"/>
                  <a:pt x="133945" y="171450"/>
                </a:cubicBezTo>
                <a:cubicBezTo>
                  <a:pt x="133945" y="150422"/>
                  <a:pt x="151017" y="133350"/>
                  <a:pt x="172045" y="133350"/>
                </a:cubicBezTo>
                <a:close/>
              </a:path>
            </a:pathLst>
          </a:cu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922000" y="3683000"/>
            <a:ext cx="4572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800" dirty="0">
                <a:solidFill>
                  <a:srgbClr val="2DD4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$11.77K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10922000" y="4699000"/>
            <a:ext cx="457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PRICE PER UNIT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03000" y="5207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unit pricing metric reflecting product mix value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ANALYSIS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508000" cy="38100"/>
          </a:xfrm>
          <a:prstGeom prst="rect">
            <a:avLst/>
          </a:pr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10795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Sales by Location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762000" y="2032000"/>
          <a:ext cx="7874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9398000" y="20320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Observations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398000" y="2857500"/>
            <a:ext cx="50800" cy="889000"/>
          </a:xfrm>
          <a:prstGeom prst="rect">
            <a:avLst/>
          </a:pr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9652000" y="2794000"/>
            <a:ext cx="584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D4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In-store dominates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69% of total sales come from in-store purchases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9398000" y="4127500"/>
            <a:ext cx="50800" cy="889000"/>
          </a:xfrm>
          <a:prstGeom prst="rect">
            <a:avLst/>
          </a:pr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652000" y="4064000"/>
            <a:ext cx="584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D4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Takeaway growing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31% share shows strong off-premise demand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9398000" y="5397500"/>
            <a:ext cx="50800" cy="889000"/>
          </a:xfrm>
          <a:prstGeom prst="rect">
            <a:avLst/>
          </a:pr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652000" y="5334000"/>
            <a:ext cx="584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D4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Strategic insight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Physical presence remains critical to revenue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ANALYSIS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508000" cy="38100"/>
          </a:xfrm>
          <a:prstGeom prst="rect">
            <a:avLst/>
          </a:pr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10795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Sales by Payment Method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762000" y="2032000"/>
          <a:ext cx="6985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509000" y="2032000"/>
            <a:ext cx="698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Insights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553450" y="2921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1112" y="44450"/>
                </a:moveTo>
                <a:cubicBezTo>
                  <a:pt x="11112" y="19933"/>
                  <a:pt x="31046" y="0"/>
                  <a:pt x="55563" y="0"/>
                </a:cubicBezTo>
                <a:lnTo>
                  <a:pt x="211138" y="0"/>
                </a:lnTo>
                <a:cubicBezTo>
                  <a:pt x="235654" y="0"/>
                  <a:pt x="255587" y="19933"/>
                  <a:pt x="255587" y="44450"/>
                </a:cubicBezTo>
                <a:lnTo>
                  <a:pt x="255587" y="311150"/>
                </a:lnTo>
                <a:cubicBezTo>
                  <a:pt x="255587" y="335667"/>
                  <a:pt x="235654" y="355600"/>
                  <a:pt x="211138" y="355600"/>
                </a:cubicBezTo>
                <a:lnTo>
                  <a:pt x="55563" y="355600"/>
                </a:lnTo>
                <a:cubicBezTo>
                  <a:pt x="31046" y="355600"/>
                  <a:pt x="11112" y="335667"/>
                  <a:pt x="11112" y="311150"/>
                </a:cubicBezTo>
                <a:lnTo>
                  <a:pt x="11112" y="44450"/>
                </a:lnTo>
                <a:close/>
                <a:moveTo>
                  <a:pt x="88900" y="305594"/>
                </a:moveTo>
                <a:cubicBezTo>
                  <a:pt x="88900" y="314831"/>
                  <a:pt x="96331" y="322263"/>
                  <a:pt x="105569" y="322263"/>
                </a:cubicBezTo>
                <a:lnTo>
                  <a:pt x="161131" y="322263"/>
                </a:lnTo>
                <a:cubicBezTo>
                  <a:pt x="170369" y="322263"/>
                  <a:pt x="177800" y="314831"/>
                  <a:pt x="177800" y="305594"/>
                </a:cubicBezTo>
                <a:cubicBezTo>
                  <a:pt x="177800" y="296356"/>
                  <a:pt x="170369" y="288925"/>
                  <a:pt x="161131" y="288925"/>
                </a:cubicBezTo>
                <a:lnTo>
                  <a:pt x="105569" y="288925"/>
                </a:lnTo>
                <a:cubicBezTo>
                  <a:pt x="96331" y="288925"/>
                  <a:pt x="88900" y="296356"/>
                  <a:pt x="88900" y="305594"/>
                </a:cubicBezTo>
                <a:close/>
                <a:moveTo>
                  <a:pt x="211138" y="44450"/>
                </a:moveTo>
                <a:lnTo>
                  <a:pt x="55563" y="44450"/>
                </a:lnTo>
                <a:lnTo>
                  <a:pt x="55563" y="255587"/>
                </a:lnTo>
                <a:lnTo>
                  <a:pt x="211138" y="255587"/>
                </a:lnTo>
                <a:lnTo>
                  <a:pt x="211138" y="44450"/>
                </a:lnTo>
                <a:close/>
              </a:path>
            </a:pathLst>
          </a:cu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9017000" y="2857500"/>
            <a:ext cx="647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D4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Digital Wallet leads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42% of transactions, showing strong customer preference for convenience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509000" y="419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88900"/>
                </a:moveTo>
                <a:lnTo>
                  <a:pt x="0" y="111125"/>
                </a:lnTo>
                <a:lnTo>
                  <a:pt x="355600" y="111125"/>
                </a:lnTo>
                <a:lnTo>
                  <a:pt x="355600" y="88900"/>
                </a:lnTo>
                <a:cubicBezTo>
                  <a:pt x="355600" y="64383"/>
                  <a:pt x="335667" y="44450"/>
                  <a:pt x="311150" y="44450"/>
                </a:cubicBezTo>
                <a:lnTo>
                  <a:pt x="44450" y="44450"/>
                </a:lnTo>
                <a:cubicBezTo>
                  <a:pt x="19933" y="44450"/>
                  <a:pt x="0" y="64383"/>
                  <a:pt x="0" y="88900"/>
                </a:cubicBezTo>
                <a:close/>
                <a:moveTo>
                  <a:pt x="0" y="144463"/>
                </a:move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11150" y="311150"/>
                </a:lnTo>
                <a:cubicBezTo>
                  <a:pt x="335667" y="311150"/>
                  <a:pt x="355600" y="291217"/>
                  <a:pt x="355600" y="266700"/>
                </a:cubicBezTo>
                <a:lnTo>
                  <a:pt x="355600" y="144463"/>
                </a:lnTo>
                <a:lnTo>
                  <a:pt x="0" y="144463"/>
                </a:lnTo>
                <a:close/>
                <a:moveTo>
                  <a:pt x="44450" y="250031"/>
                </a:moveTo>
                <a:cubicBezTo>
                  <a:pt x="44450" y="240794"/>
                  <a:pt x="51881" y="233363"/>
                  <a:pt x="61119" y="233363"/>
                </a:cubicBezTo>
                <a:lnTo>
                  <a:pt x="94456" y="233363"/>
                </a:lnTo>
                <a:cubicBezTo>
                  <a:pt x="103694" y="233363"/>
                  <a:pt x="111125" y="240794"/>
                  <a:pt x="111125" y="250031"/>
                </a:cubicBezTo>
                <a:cubicBezTo>
                  <a:pt x="111125" y="259269"/>
                  <a:pt x="103694" y="266700"/>
                  <a:pt x="94456" y="266700"/>
                </a:cubicBezTo>
                <a:lnTo>
                  <a:pt x="61119" y="266700"/>
                </a:lnTo>
                <a:cubicBezTo>
                  <a:pt x="51881" y="266700"/>
                  <a:pt x="44450" y="259269"/>
                  <a:pt x="44450" y="250031"/>
                </a:cubicBezTo>
                <a:close/>
                <a:moveTo>
                  <a:pt x="144463" y="250031"/>
                </a:moveTo>
                <a:cubicBezTo>
                  <a:pt x="144463" y="240794"/>
                  <a:pt x="151894" y="233363"/>
                  <a:pt x="161131" y="233363"/>
                </a:cubicBez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61131" y="266700"/>
                </a:lnTo>
                <a:cubicBezTo>
                  <a:pt x="151894" y="266700"/>
                  <a:pt x="144463" y="259269"/>
                  <a:pt x="144463" y="250031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017000" y="4127500"/>
            <a:ext cx="647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Credit Card steady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35% share indicates reliable traditional payment usage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509000" y="546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19933" y="44450"/>
                  <a:pt x="0" y="64383"/>
                  <a:pt x="0" y="88900"/>
                </a:cubicBez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11150" y="311150"/>
                </a:lnTo>
                <a:cubicBezTo>
                  <a:pt x="335667" y="311150"/>
                  <a:pt x="355600" y="291217"/>
                  <a:pt x="355600" y="266700"/>
                </a:cubicBezTo>
                <a:lnTo>
                  <a:pt x="355600" y="88900"/>
                </a:lnTo>
                <a:cubicBezTo>
                  <a:pt x="355600" y="64383"/>
                  <a:pt x="335667" y="44450"/>
                  <a:pt x="311150" y="44450"/>
                </a:cubicBezTo>
                <a:lnTo>
                  <a:pt x="44450" y="44450"/>
                </a:lnTo>
                <a:close/>
                <a:moveTo>
                  <a:pt x="177800" y="111125"/>
                </a:moveTo>
                <a:cubicBezTo>
                  <a:pt x="214599" y="111125"/>
                  <a:pt x="244475" y="141001"/>
                  <a:pt x="244475" y="177800"/>
                </a:cubicBezTo>
                <a:cubicBezTo>
                  <a:pt x="244475" y="214599"/>
                  <a:pt x="214599" y="244475"/>
                  <a:pt x="177800" y="244475"/>
                </a:cubicBezTo>
                <a:cubicBezTo>
                  <a:pt x="141001" y="244475"/>
                  <a:pt x="111125" y="214599"/>
                  <a:pt x="111125" y="177800"/>
                </a:cubicBezTo>
                <a:cubicBezTo>
                  <a:pt x="111125" y="141001"/>
                  <a:pt x="141001" y="111125"/>
                  <a:pt x="177800" y="111125"/>
                </a:cubicBezTo>
                <a:close/>
                <a:moveTo>
                  <a:pt x="311150" y="127794"/>
                </a:moveTo>
                <a:cubicBezTo>
                  <a:pt x="311150" y="130850"/>
                  <a:pt x="308650" y="133419"/>
                  <a:pt x="305594" y="133003"/>
                </a:cubicBezTo>
                <a:cubicBezTo>
                  <a:pt x="285452" y="130502"/>
                  <a:pt x="269548" y="114528"/>
                  <a:pt x="267047" y="94456"/>
                </a:cubicBezTo>
                <a:cubicBezTo>
                  <a:pt x="266700" y="91400"/>
                  <a:pt x="269200" y="88900"/>
                  <a:pt x="272256" y="88900"/>
                </a:cubicBezTo>
                <a:lnTo>
                  <a:pt x="305594" y="88900"/>
                </a:lnTo>
                <a:cubicBezTo>
                  <a:pt x="308650" y="88900"/>
                  <a:pt x="311150" y="91400"/>
                  <a:pt x="311150" y="94456"/>
                </a:cubicBezTo>
                <a:lnTo>
                  <a:pt x="311150" y="127794"/>
                </a:lnTo>
                <a:close/>
                <a:moveTo>
                  <a:pt x="44450" y="227806"/>
                </a:moveTo>
                <a:cubicBezTo>
                  <a:pt x="44450" y="224750"/>
                  <a:pt x="46950" y="222181"/>
                  <a:pt x="50006" y="222597"/>
                </a:cubicBezTo>
                <a:cubicBezTo>
                  <a:pt x="70148" y="225098"/>
                  <a:pt x="86052" y="241072"/>
                  <a:pt x="88553" y="261144"/>
                </a:cubicBezTo>
                <a:cubicBezTo>
                  <a:pt x="88900" y="264200"/>
                  <a:pt x="86400" y="266700"/>
                  <a:pt x="83344" y="266700"/>
                </a:cubicBezTo>
                <a:lnTo>
                  <a:pt x="50006" y="266700"/>
                </a:lnTo>
                <a:cubicBezTo>
                  <a:pt x="46950" y="266700"/>
                  <a:pt x="44450" y="264200"/>
                  <a:pt x="44450" y="261144"/>
                </a:cubicBezTo>
                <a:lnTo>
                  <a:pt x="44450" y="227806"/>
                </a:lnTo>
                <a:close/>
                <a:moveTo>
                  <a:pt x="50006" y="133003"/>
                </a:moveTo>
                <a:cubicBezTo>
                  <a:pt x="46950" y="133350"/>
                  <a:pt x="44450" y="130850"/>
                  <a:pt x="44450" y="127794"/>
                </a:cubicBezTo>
                <a:lnTo>
                  <a:pt x="44450" y="94456"/>
                </a:lnTo>
                <a:cubicBezTo>
                  <a:pt x="44450" y="91400"/>
                  <a:pt x="46950" y="88900"/>
                  <a:pt x="50006" y="88900"/>
                </a:cubicBezTo>
                <a:lnTo>
                  <a:pt x="83344" y="88900"/>
                </a:lnTo>
                <a:cubicBezTo>
                  <a:pt x="86400" y="88900"/>
                  <a:pt x="88969" y="91400"/>
                  <a:pt x="88553" y="94456"/>
                </a:cubicBezTo>
                <a:cubicBezTo>
                  <a:pt x="86052" y="114598"/>
                  <a:pt x="70078" y="130502"/>
                  <a:pt x="50006" y="133003"/>
                </a:cubicBezTo>
                <a:close/>
                <a:moveTo>
                  <a:pt x="305594" y="222597"/>
                </a:moveTo>
                <a:cubicBezTo>
                  <a:pt x="308650" y="222250"/>
                  <a:pt x="311150" y="224750"/>
                  <a:pt x="311150" y="227806"/>
                </a:cubicBezTo>
                <a:lnTo>
                  <a:pt x="311150" y="261144"/>
                </a:lnTo>
                <a:cubicBezTo>
                  <a:pt x="311150" y="264200"/>
                  <a:pt x="308650" y="266700"/>
                  <a:pt x="305594" y="266700"/>
                </a:cubicBezTo>
                <a:lnTo>
                  <a:pt x="272256" y="266700"/>
                </a:lnTo>
                <a:cubicBezTo>
                  <a:pt x="269200" y="266700"/>
                  <a:pt x="266631" y="264200"/>
                  <a:pt x="267047" y="261144"/>
                </a:cubicBezTo>
                <a:cubicBezTo>
                  <a:pt x="269548" y="241002"/>
                  <a:pt x="285522" y="225098"/>
                  <a:pt x="305594" y="222597"/>
                </a:cubicBezTo>
                <a:close/>
              </a:path>
            </a:pathLst>
          </a:custGeom>
          <a:solidFill>
            <a:srgbClr val="94A3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017000" y="5397500"/>
            <a:ext cx="647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Cash declining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Only 23% share, signaling a shift toward digital payments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ANALYSIS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508000" cy="38100"/>
          </a:xfrm>
          <a:prstGeom prst="rect">
            <a:avLst/>
          </a:pr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10795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Performance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62000" y="2032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kern="0" spc="200" dirty="0">
                <a:solidFill>
                  <a:srgbClr val="2DD4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PERFORMERS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540000"/>
            <a:ext cx="14732000" cy="127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4572000" cy="20320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79500" y="304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0856" y="5983"/>
                </a:moveTo>
                <a:cubicBezTo>
                  <a:pt x="426571" y="536"/>
                  <a:pt x="434876" y="-1429"/>
                  <a:pt x="442555" y="1072"/>
                </a:cubicBezTo>
                <a:cubicBezTo>
                  <a:pt x="451306" y="4018"/>
                  <a:pt x="457200" y="12234"/>
                  <a:pt x="457200" y="21431"/>
                </a:cubicBezTo>
                <a:lnTo>
                  <a:pt x="457200" y="188327"/>
                </a:lnTo>
                <a:cubicBezTo>
                  <a:pt x="457200" y="305485"/>
                  <a:pt x="360670" y="400050"/>
                  <a:pt x="243959" y="400050"/>
                </a:cubicBezTo>
                <a:cubicBezTo>
                  <a:pt x="175200" y="400050"/>
                  <a:pt x="115907" y="355848"/>
                  <a:pt x="94387" y="294055"/>
                </a:cubicBezTo>
                <a:cubicBezTo>
                  <a:pt x="62776" y="321558"/>
                  <a:pt x="42862" y="362010"/>
                  <a:pt x="42862" y="407194"/>
                </a:cubicBezTo>
                <a:cubicBezTo>
                  <a:pt x="42862" y="419070"/>
                  <a:pt x="33308" y="428625"/>
                  <a:pt x="21431" y="428625"/>
                </a:cubicBezTo>
                <a:cubicBezTo>
                  <a:pt x="9555" y="428625"/>
                  <a:pt x="0" y="419070"/>
                  <a:pt x="0" y="407194"/>
                </a:cubicBezTo>
                <a:cubicBezTo>
                  <a:pt x="0" y="340310"/>
                  <a:pt x="34111" y="281374"/>
                  <a:pt x="85814" y="246727"/>
                </a:cubicBezTo>
                <a:cubicBezTo>
                  <a:pt x="117336" y="225653"/>
                  <a:pt x="154930" y="214313"/>
                  <a:pt x="192881" y="214313"/>
                </a:cubicBezTo>
                <a:lnTo>
                  <a:pt x="264319" y="214313"/>
                </a:lnTo>
                <a:cubicBezTo>
                  <a:pt x="276195" y="214313"/>
                  <a:pt x="285750" y="204758"/>
                  <a:pt x="285750" y="192881"/>
                </a:cubicBezTo>
                <a:cubicBezTo>
                  <a:pt x="285750" y="181005"/>
                  <a:pt x="276195" y="171450"/>
                  <a:pt x="264319" y="171450"/>
                </a:cubicBezTo>
                <a:lnTo>
                  <a:pt x="192881" y="171450"/>
                </a:lnTo>
                <a:cubicBezTo>
                  <a:pt x="157430" y="171450"/>
                  <a:pt x="123855" y="179308"/>
                  <a:pt x="93762" y="193328"/>
                </a:cubicBezTo>
                <a:cubicBezTo>
                  <a:pt x="114568" y="130820"/>
                  <a:pt x="173415" y="85725"/>
                  <a:pt x="242888" y="85725"/>
                </a:cubicBezTo>
                <a:cubicBezTo>
                  <a:pt x="302181" y="85725"/>
                  <a:pt x="346293" y="65990"/>
                  <a:pt x="375672" y="46434"/>
                </a:cubicBezTo>
                <a:cubicBezTo>
                  <a:pt x="392817" y="35004"/>
                  <a:pt x="407372" y="21342"/>
                  <a:pt x="420945" y="5983"/>
                </a:cubicBezTo>
                <a:close/>
              </a:path>
            </a:pathLst>
          </a:cu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714500" y="3022600"/>
            <a:ext cx="330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" y="3683000"/>
            <a:ext cx="393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revenue contributor with strong customer demand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42000" y="2794000"/>
            <a:ext cx="4572000" cy="20320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159500" y="304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385763"/>
                </a:moveTo>
                <a:lnTo>
                  <a:pt x="57150" y="228600"/>
                </a:lnTo>
                <a:cubicBezTo>
                  <a:pt x="25628" y="228600"/>
                  <a:pt x="0" y="202972"/>
                  <a:pt x="0" y="171450"/>
                </a:cubicBezTo>
                <a:cubicBezTo>
                  <a:pt x="0" y="-21878"/>
                  <a:pt x="457200" y="-21878"/>
                  <a:pt x="457200" y="171450"/>
                </a:cubicBezTo>
                <a:cubicBezTo>
                  <a:pt x="457200" y="202972"/>
                  <a:pt x="431572" y="228600"/>
                  <a:pt x="400050" y="228600"/>
                </a:cubicBezTo>
                <a:lnTo>
                  <a:pt x="400050" y="385763"/>
                </a:lnTo>
                <a:cubicBezTo>
                  <a:pt x="400050" y="409426"/>
                  <a:pt x="380851" y="428625"/>
                  <a:pt x="357188" y="428625"/>
                </a:cubicBezTo>
                <a:lnTo>
                  <a:pt x="100013" y="428625"/>
                </a:lnTo>
                <a:cubicBezTo>
                  <a:pt x="76349" y="428625"/>
                  <a:pt x="57150" y="409426"/>
                  <a:pt x="57150" y="385763"/>
                </a:cubicBezTo>
                <a:close/>
              </a:path>
            </a:pathLst>
          </a:cu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794500" y="3022600"/>
            <a:ext cx="330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Sandwich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59500" y="3683000"/>
            <a:ext cx="393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consistent sales across all locations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22000" y="2794000"/>
            <a:ext cx="4572000" cy="20320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1296650" y="3048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8575" y="0"/>
                </a:moveTo>
                <a:cubicBezTo>
                  <a:pt x="20628" y="0"/>
                  <a:pt x="13037" y="3304"/>
                  <a:pt x="7680" y="9108"/>
                </a:cubicBezTo>
                <a:cubicBezTo>
                  <a:pt x="2322" y="14913"/>
                  <a:pt x="-536" y="22681"/>
                  <a:pt x="89" y="30629"/>
                </a:cubicBezTo>
                <a:lnTo>
                  <a:pt x="25807" y="390852"/>
                </a:lnTo>
                <a:cubicBezTo>
                  <a:pt x="28486" y="428268"/>
                  <a:pt x="59561" y="457200"/>
                  <a:pt x="97066" y="457200"/>
                </a:cubicBezTo>
                <a:lnTo>
                  <a:pt x="245834" y="457200"/>
                </a:lnTo>
                <a:cubicBezTo>
                  <a:pt x="283339" y="457200"/>
                  <a:pt x="314414" y="428268"/>
                  <a:pt x="317093" y="390852"/>
                </a:cubicBezTo>
                <a:lnTo>
                  <a:pt x="342811" y="30629"/>
                </a:lnTo>
                <a:cubicBezTo>
                  <a:pt x="343346" y="22681"/>
                  <a:pt x="340668" y="14913"/>
                  <a:pt x="335220" y="9108"/>
                </a:cubicBezTo>
                <a:cubicBezTo>
                  <a:pt x="329773" y="3304"/>
                  <a:pt x="322272" y="0"/>
                  <a:pt x="314325" y="0"/>
                </a:cubicBezTo>
                <a:lnTo>
                  <a:pt x="28575" y="0"/>
                </a:lnTo>
                <a:close/>
                <a:moveTo>
                  <a:pt x="65187" y="139750"/>
                </a:moveTo>
                <a:lnTo>
                  <a:pt x="59293" y="57150"/>
                </a:lnTo>
                <a:lnTo>
                  <a:pt x="283696" y="57150"/>
                </a:lnTo>
                <a:lnTo>
                  <a:pt x="277803" y="139750"/>
                </a:lnTo>
                <a:lnTo>
                  <a:pt x="256193" y="150555"/>
                </a:lnTo>
                <a:cubicBezTo>
                  <a:pt x="238869" y="159216"/>
                  <a:pt x="218509" y="159216"/>
                  <a:pt x="201186" y="150555"/>
                </a:cubicBezTo>
                <a:cubicBezTo>
                  <a:pt x="182523" y="141268"/>
                  <a:pt x="160556" y="141268"/>
                  <a:pt x="141893" y="150555"/>
                </a:cubicBezTo>
                <a:cubicBezTo>
                  <a:pt x="124569" y="159216"/>
                  <a:pt x="104209" y="159216"/>
                  <a:pt x="86886" y="150555"/>
                </a:cubicBezTo>
                <a:lnTo>
                  <a:pt x="65187" y="139750"/>
                </a:lnTo>
                <a:close/>
              </a:path>
            </a:pathLst>
          </a:cu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1874500" y="3022600"/>
            <a:ext cx="330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Smoothie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239500" y="3683000"/>
            <a:ext cx="393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Popular category driver with growth potential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5334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kern="0" spc="2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PERFORMERS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842000"/>
            <a:ext cx="14732000" cy="127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62000" y="6096000"/>
            <a:ext cx="14732000" cy="15240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079500" y="647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714500" y="628650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Items with lower sales volume require attention. Consider </a:t>
            </a: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re-evaluating pricing</a:t>
            </a: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improving placement</a:t>
            </a: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or </a:t>
            </a: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revamping recipes</a:t>
            </a: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underperforming products. Focus marketing on top sellers while optimizing the rest.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ANALYSIS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508000" cy="38100"/>
          </a:xfrm>
          <a:prstGeom prst="rect">
            <a:avLst/>
          </a:pr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10795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50800" cy="889000"/>
          </a:xfrm>
          <a:prstGeom prst="rect">
            <a:avLst/>
          </a:pr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16000" y="2095500"/>
            <a:ext cx="1447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D4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In-store sales dominate revenue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Physical presence remains critical, accounting for the majority of transactions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2000" y="3429000"/>
            <a:ext cx="50800" cy="889000"/>
          </a:xfrm>
          <a:prstGeom prst="rect">
            <a:avLst/>
          </a:pr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16000" y="3365500"/>
            <a:ext cx="1447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D4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Digital payments are increasing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Digital wallet leads at 42%, signaling a shift away from cash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62000" y="4699000"/>
            <a:ext cx="50800" cy="889000"/>
          </a:xfrm>
          <a:prstGeom prst="rect">
            <a:avLst/>
          </a:pr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16000" y="4635500"/>
            <a:ext cx="1447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D4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Certain items drive most revenue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Salad, Sandwich, and Smoothie follow the 80/20 rule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62000" y="5969000"/>
            <a:ext cx="50800" cy="889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16000" y="5905500"/>
            <a:ext cx="1447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Payment method correlates with spending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Digital users tend to spend more per transaction than cash users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62000" y="7239000"/>
            <a:ext cx="50800" cy="889000"/>
          </a:xfrm>
          <a:prstGeom prst="rect">
            <a:avLst/>
          </a:pr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16000" y="7175500"/>
            <a:ext cx="1447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D4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Location-based preferences exist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In-store vs Takeaway patterns suggest targeted marketing opportunities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589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INSIGHTS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508000" cy="38100"/>
          </a:xfrm>
          <a:prstGeom prst="rect">
            <a:avLst/>
          </a:pr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HYPOTHESIS TESTING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10795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Hypothesis Testing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14732000" cy="12700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36650" y="2476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778000" y="2286000"/>
            <a:ext cx="1333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Hypothesis:</a:t>
            </a:r>
            <a:r>
              <a:rPr lang="en-US" sz="2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"Digital payment users spend more per transaction than cash users"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810000"/>
            <a:ext cx="6985000" cy="17780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16000" y="40005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H₀ NULL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4445000"/>
            <a:ext cx="647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There is </a:t>
            </a: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difference</a:t>
            </a: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spending between digital and cash payments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509000" y="3810000"/>
            <a:ext cx="6985000" cy="17780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763000" y="4000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2DD4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H₁ ALTERNATIVE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63000" y="4445000"/>
            <a:ext cx="647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payment users have </a:t>
            </a:r>
            <a:r>
              <a:rPr lang="en-US" sz="1800" b="1" dirty="0">
                <a:solidFill>
                  <a:srgbClr val="2DD4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average spending</a:t>
            </a: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than cash users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6096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Method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6604000"/>
            <a:ext cx="14732000" cy="127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84225" y="6921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00025" y="0"/>
                </a:moveTo>
                <a:lnTo>
                  <a:pt x="88900" y="0"/>
                </a:lnTo>
                <a:cubicBezTo>
                  <a:pt x="76607" y="0"/>
                  <a:pt x="66675" y="9932"/>
                  <a:pt x="66675" y="22225"/>
                </a:cubicBezTo>
                <a:cubicBezTo>
                  <a:pt x="66675" y="34518"/>
                  <a:pt x="76607" y="44450"/>
                  <a:pt x="88900" y="44450"/>
                </a:cubicBezTo>
                <a:lnTo>
                  <a:pt x="88900" y="149671"/>
                </a:lnTo>
                <a:lnTo>
                  <a:pt x="5209" y="296079"/>
                </a:lnTo>
                <a:cubicBezTo>
                  <a:pt x="1806" y="302121"/>
                  <a:pt x="0" y="308858"/>
                  <a:pt x="0" y="315803"/>
                </a:cubicBezTo>
                <a:cubicBezTo>
                  <a:pt x="0" y="337820"/>
                  <a:pt x="17780" y="355600"/>
                  <a:pt x="39797" y="355600"/>
                </a:cubicBezTo>
                <a:lnTo>
                  <a:pt x="271353" y="355600"/>
                </a:lnTo>
                <a:cubicBezTo>
                  <a:pt x="293301" y="355600"/>
                  <a:pt x="311150" y="337820"/>
                  <a:pt x="311150" y="315803"/>
                </a:cubicBezTo>
                <a:cubicBezTo>
                  <a:pt x="311150" y="308858"/>
                  <a:pt x="309344" y="302052"/>
                  <a:pt x="305941" y="296079"/>
                </a:cubicBezTo>
                <a:lnTo>
                  <a:pt x="222250" y="149671"/>
                </a:lnTo>
                <a:lnTo>
                  <a:pt x="222250" y="44450"/>
                </a:lnTo>
                <a:cubicBezTo>
                  <a:pt x="234543" y="44450"/>
                  <a:pt x="244475" y="34518"/>
                  <a:pt x="244475" y="22225"/>
                </a:cubicBezTo>
                <a:cubicBezTo>
                  <a:pt x="244475" y="9932"/>
                  <a:pt x="234543" y="0"/>
                  <a:pt x="222250" y="0"/>
                </a:cubicBezTo>
                <a:lnTo>
                  <a:pt x="200025" y="0"/>
                </a:lnTo>
                <a:close/>
                <a:moveTo>
                  <a:pt x="133350" y="149671"/>
                </a:moveTo>
                <a:lnTo>
                  <a:pt x="133350" y="44450"/>
                </a:lnTo>
                <a:lnTo>
                  <a:pt x="177800" y="44450"/>
                </a:lnTo>
                <a:lnTo>
                  <a:pt x="177800" y="149671"/>
                </a:lnTo>
                <a:cubicBezTo>
                  <a:pt x="177800" y="157381"/>
                  <a:pt x="179814" y="165021"/>
                  <a:pt x="183634" y="171758"/>
                </a:cubicBezTo>
                <a:lnTo>
                  <a:pt x="212527" y="222250"/>
                </a:lnTo>
                <a:lnTo>
                  <a:pt x="98623" y="222250"/>
                </a:lnTo>
                <a:lnTo>
                  <a:pt x="127516" y="171758"/>
                </a:lnTo>
                <a:cubicBezTo>
                  <a:pt x="131336" y="165021"/>
                  <a:pt x="133350" y="157450"/>
                  <a:pt x="133350" y="149671"/>
                </a:cubicBezTo>
                <a:close/>
              </a:path>
            </a:pathLst>
          </a:cu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270000" y="68580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 T-test</a:t>
            </a: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Comparing two group means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692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3350" y="55563"/>
                </a:moveTo>
                <a:cubicBezTo>
                  <a:pt x="133350" y="37157"/>
                  <a:pt x="148282" y="22225"/>
                  <a:pt x="166688" y="22225"/>
                </a:cubicBezTo>
                <a:lnTo>
                  <a:pt x="188913" y="22225"/>
                </a:lnTo>
                <a:cubicBezTo>
                  <a:pt x="207318" y="22225"/>
                  <a:pt x="222250" y="37157"/>
                  <a:pt x="222250" y="55563"/>
                </a:cubicBezTo>
                <a:lnTo>
                  <a:pt x="222250" y="300038"/>
                </a:lnTo>
                <a:cubicBezTo>
                  <a:pt x="222250" y="318443"/>
                  <a:pt x="207318" y="333375"/>
                  <a:pt x="188913" y="333375"/>
                </a:cubicBezTo>
                <a:lnTo>
                  <a:pt x="166688" y="333375"/>
                </a:lnTo>
                <a:cubicBezTo>
                  <a:pt x="148282" y="333375"/>
                  <a:pt x="133350" y="318443"/>
                  <a:pt x="133350" y="300038"/>
                </a:cubicBezTo>
                <a:lnTo>
                  <a:pt x="133350" y="55563"/>
                </a:lnTo>
                <a:close/>
                <a:moveTo>
                  <a:pt x="0" y="188913"/>
                </a:moveTo>
                <a:cubicBezTo>
                  <a:pt x="0" y="170507"/>
                  <a:pt x="14932" y="155575"/>
                  <a:pt x="33337" y="155575"/>
                </a:cubicBezTo>
                <a:lnTo>
                  <a:pt x="55563" y="155575"/>
                </a:lnTo>
                <a:cubicBezTo>
                  <a:pt x="73968" y="155575"/>
                  <a:pt x="88900" y="170507"/>
                  <a:pt x="88900" y="188913"/>
                </a:cubicBezTo>
                <a:lnTo>
                  <a:pt x="88900" y="300038"/>
                </a:lnTo>
                <a:cubicBezTo>
                  <a:pt x="88900" y="318443"/>
                  <a:pt x="73968" y="333375"/>
                  <a:pt x="55563" y="333375"/>
                </a:cubicBezTo>
                <a:lnTo>
                  <a:pt x="33337" y="333375"/>
                </a:lnTo>
                <a:cubicBezTo>
                  <a:pt x="14932" y="333375"/>
                  <a:pt x="0" y="318443"/>
                  <a:pt x="0" y="300038"/>
                </a:cubicBezTo>
                <a:lnTo>
                  <a:pt x="0" y="188913"/>
                </a:lnTo>
                <a:close/>
                <a:moveTo>
                  <a:pt x="300038" y="66675"/>
                </a:moveTo>
                <a:lnTo>
                  <a:pt x="322263" y="66675"/>
                </a:lnTo>
                <a:cubicBezTo>
                  <a:pt x="340668" y="66675"/>
                  <a:pt x="355600" y="81607"/>
                  <a:pt x="355600" y="100013"/>
                </a:cubicBezTo>
                <a:lnTo>
                  <a:pt x="355600" y="300038"/>
                </a:lnTo>
                <a:cubicBezTo>
                  <a:pt x="355600" y="318443"/>
                  <a:pt x="340668" y="333375"/>
                  <a:pt x="322263" y="333375"/>
                </a:cubicBezTo>
                <a:lnTo>
                  <a:pt x="300038" y="333375"/>
                </a:lnTo>
                <a:cubicBezTo>
                  <a:pt x="281632" y="333375"/>
                  <a:pt x="266700" y="318443"/>
                  <a:pt x="266700" y="300038"/>
                </a:cubicBezTo>
                <a:lnTo>
                  <a:pt x="266700" y="100013"/>
                </a:lnTo>
                <a:cubicBezTo>
                  <a:pt x="266700" y="81607"/>
                  <a:pt x="281632" y="66675"/>
                  <a:pt x="300038" y="66675"/>
                </a:cubicBezTo>
                <a:close/>
              </a:path>
            </a:pathLst>
          </a:cu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890000" y="68580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Significance Level:</a:t>
            </a: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α = 0.05 (95% confidence)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27000" y="86360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HYPOTHESIS TESTING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508000" cy="38100"/>
          </a:xfrm>
          <a:prstGeom prst="rect">
            <a:avLst/>
          </a:pr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HYPOTHESIS TESTING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10795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 &amp; Interpretation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14732000" cy="16510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43000" y="2540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609600"/>
                </a:moveTo>
                <a:cubicBezTo>
                  <a:pt x="473024" y="609600"/>
                  <a:pt x="609600" y="473024"/>
                  <a:pt x="609600" y="304800"/>
                </a:cubicBezTo>
                <a:cubicBezTo>
                  <a:pt x="609600" y="136576"/>
                  <a:pt x="473024" y="0"/>
                  <a:pt x="304800" y="0"/>
                </a:cubicBezTo>
                <a:cubicBezTo>
                  <a:pt x="136576" y="0"/>
                  <a:pt x="0" y="136576"/>
                  <a:pt x="0" y="304800"/>
                </a:cubicBezTo>
                <a:cubicBezTo>
                  <a:pt x="0" y="473024"/>
                  <a:pt x="136576" y="609600"/>
                  <a:pt x="304800" y="609600"/>
                </a:cubicBezTo>
                <a:close/>
                <a:moveTo>
                  <a:pt x="405289" y="253246"/>
                </a:moveTo>
                <a:lnTo>
                  <a:pt x="310039" y="405646"/>
                </a:lnTo>
                <a:cubicBezTo>
                  <a:pt x="305038" y="413623"/>
                  <a:pt x="296466" y="418624"/>
                  <a:pt x="287060" y="419100"/>
                </a:cubicBezTo>
                <a:cubicBezTo>
                  <a:pt x="277654" y="419576"/>
                  <a:pt x="268605" y="415290"/>
                  <a:pt x="263009" y="407670"/>
                </a:cubicBezTo>
                <a:lnTo>
                  <a:pt x="205859" y="331470"/>
                </a:lnTo>
                <a:cubicBezTo>
                  <a:pt x="196334" y="318849"/>
                  <a:pt x="198953" y="300990"/>
                  <a:pt x="211574" y="291465"/>
                </a:cubicBezTo>
                <a:cubicBezTo>
                  <a:pt x="224195" y="281940"/>
                  <a:pt x="242054" y="284559"/>
                  <a:pt x="251579" y="297180"/>
                </a:cubicBezTo>
                <a:lnTo>
                  <a:pt x="283726" y="340043"/>
                </a:lnTo>
                <a:lnTo>
                  <a:pt x="356830" y="223004"/>
                </a:lnTo>
                <a:cubicBezTo>
                  <a:pt x="365165" y="209669"/>
                  <a:pt x="382786" y="205502"/>
                  <a:pt x="396240" y="213955"/>
                </a:cubicBezTo>
                <a:cubicBezTo>
                  <a:pt x="409694" y="222409"/>
                  <a:pt x="413742" y="239911"/>
                  <a:pt x="405289" y="253365"/>
                </a:cubicBezTo>
                <a:close/>
              </a:path>
            </a:pathLst>
          </a:cu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032000" y="2349500"/>
            <a:ext cx="1308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DD4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P-value &lt; 0.05</a:t>
            </a:r>
            <a:r>
              <a:rPr lang="en-US" sz="2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Result is statistically significant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DD4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Reject the null hypothesis</a:t>
            </a:r>
            <a:r>
              <a:rPr lang="en-US" sz="2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Digital payment users DO spend significantly more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4318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Does This Mean?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4826000"/>
            <a:ext cx="14732000" cy="127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62000" y="5080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D4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→</a:t>
            </a:r>
            <a:r>
              <a:rPr lang="en-US" sz="20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If p &lt; 0.05, the difference is </a:t>
            </a:r>
            <a:r>
              <a:rPr lang="en-US" sz="2000" b="1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</a:t>
            </a:r>
            <a:r>
              <a:rPr lang="en-US" sz="20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not due to random chance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62000" y="6223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Meaning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6731000"/>
            <a:ext cx="14732000" cy="127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62000" y="6985000"/>
            <a:ext cx="1473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Investing in </a:t>
            </a:r>
            <a:r>
              <a:rPr lang="en-US" sz="2000" b="1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digital payment infrastructure</a:t>
            </a:r>
            <a:r>
              <a:rPr lang="en-US" sz="20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promotions can drive higher average transaction value. Encouraging customers to switch from cash to digital will likely increase revenue per sale.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27000" y="86360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HYPOTHESIS TESTING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508000" cy="38100"/>
          </a:xfrm>
          <a:prstGeom prst="rect">
            <a:avLst/>
          </a:pr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10795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7175500" cy="27940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36650" y="2476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4288" y="57150"/>
                </a:moveTo>
                <a:cubicBezTo>
                  <a:pt x="14288" y="25628"/>
                  <a:pt x="39916" y="0"/>
                  <a:pt x="71438" y="0"/>
                </a:cubicBezTo>
                <a:lnTo>
                  <a:pt x="271463" y="0"/>
                </a:lnTo>
                <a:cubicBezTo>
                  <a:pt x="302984" y="0"/>
                  <a:pt x="328613" y="25628"/>
                  <a:pt x="328613" y="57150"/>
                </a:cubicBezTo>
                <a:lnTo>
                  <a:pt x="328613" y="400050"/>
                </a:lnTo>
                <a:cubicBezTo>
                  <a:pt x="328613" y="431572"/>
                  <a:pt x="302984" y="457200"/>
                  <a:pt x="271463" y="457200"/>
                </a:cubicBezTo>
                <a:lnTo>
                  <a:pt x="71438" y="457200"/>
                </a:lnTo>
                <a:cubicBezTo>
                  <a:pt x="39916" y="457200"/>
                  <a:pt x="14288" y="431572"/>
                  <a:pt x="14288" y="400050"/>
                </a:cubicBezTo>
                <a:lnTo>
                  <a:pt x="14288" y="57150"/>
                </a:lnTo>
                <a:close/>
                <a:moveTo>
                  <a:pt x="71438" y="57150"/>
                </a:moveTo>
                <a:lnTo>
                  <a:pt x="71438" y="328613"/>
                </a:lnTo>
                <a:lnTo>
                  <a:pt x="271463" y="328613"/>
                </a:lnTo>
                <a:lnTo>
                  <a:pt x="271463" y="57150"/>
                </a:lnTo>
                <a:lnTo>
                  <a:pt x="71438" y="57150"/>
                </a:lnTo>
                <a:close/>
                <a:moveTo>
                  <a:pt x="171450" y="421481"/>
                </a:moveTo>
                <a:cubicBezTo>
                  <a:pt x="187256" y="421481"/>
                  <a:pt x="200025" y="408712"/>
                  <a:pt x="200025" y="392906"/>
                </a:cubicBezTo>
                <a:cubicBezTo>
                  <a:pt x="200025" y="377101"/>
                  <a:pt x="187256" y="364331"/>
                  <a:pt x="171450" y="364331"/>
                </a:cubicBezTo>
                <a:cubicBezTo>
                  <a:pt x="155644" y="364331"/>
                  <a:pt x="142875" y="377101"/>
                  <a:pt x="142875" y="392906"/>
                </a:cubicBezTo>
                <a:cubicBezTo>
                  <a:pt x="142875" y="408712"/>
                  <a:pt x="155644" y="421481"/>
                  <a:pt x="171450" y="421481"/>
                </a:cubicBezTo>
                <a:close/>
              </a:path>
            </a:pathLst>
          </a:cu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79500" y="3111500"/>
            <a:ext cx="6540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D4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 Digital Payment Offers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3619500"/>
            <a:ext cx="6540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Introduce cashback and rewards for digital wallet users to drive adoption and increase average spend per transaction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18500" y="2159000"/>
            <a:ext cx="7175500" cy="27940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6360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28855" y="0"/>
                </a:moveTo>
                <a:lnTo>
                  <a:pt x="328880" y="0"/>
                </a:lnTo>
                <a:cubicBezTo>
                  <a:pt x="352544" y="0"/>
                  <a:pt x="371832" y="19467"/>
                  <a:pt x="370939" y="43041"/>
                </a:cubicBezTo>
                <a:cubicBezTo>
                  <a:pt x="370761" y="47774"/>
                  <a:pt x="370582" y="52507"/>
                  <a:pt x="370314" y="57150"/>
                </a:cubicBezTo>
                <a:lnTo>
                  <a:pt x="414605" y="57150"/>
                </a:lnTo>
                <a:cubicBezTo>
                  <a:pt x="437912" y="57150"/>
                  <a:pt x="458450" y="76438"/>
                  <a:pt x="456664" y="101620"/>
                </a:cubicBezTo>
                <a:cubicBezTo>
                  <a:pt x="449967" y="194221"/>
                  <a:pt x="402640" y="245120"/>
                  <a:pt x="351294" y="271730"/>
                </a:cubicBezTo>
                <a:cubicBezTo>
                  <a:pt x="337185" y="279053"/>
                  <a:pt x="322808" y="284500"/>
                  <a:pt x="309146" y="288518"/>
                </a:cubicBezTo>
                <a:cubicBezTo>
                  <a:pt x="291108" y="314057"/>
                  <a:pt x="272355" y="327541"/>
                  <a:pt x="257443" y="334774"/>
                </a:cubicBezTo>
                <a:lnTo>
                  <a:pt x="257443" y="400050"/>
                </a:lnTo>
                <a:lnTo>
                  <a:pt x="314593" y="400050"/>
                </a:lnTo>
                <a:cubicBezTo>
                  <a:pt x="330398" y="400050"/>
                  <a:pt x="343168" y="412819"/>
                  <a:pt x="343168" y="428625"/>
                </a:cubicBezTo>
                <a:cubicBezTo>
                  <a:pt x="343168" y="444431"/>
                  <a:pt x="330398" y="457200"/>
                  <a:pt x="314593" y="457200"/>
                </a:cubicBezTo>
                <a:lnTo>
                  <a:pt x="143143" y="457200"/>
                </a:lnTo>
                <a:cubicBezTo>
                  <a:pt x="127337" y="457200"/>
                  <a:pt x="114568" y="444431"/>
                  <a:pt x="114568" y="428625"/>
                </a:cubicBezTo>
                <a:cubicBezTo>
                  <a:pt x="114568" y="412819"/>
                  <a:pt x="127337" y="400050"/>
                  <a:pt x="143143" y="400050"/>
                </a:cubicBezTo>
                <a:lnTo>
                  <a:pt x="200293" y="400050"/>
                </a:lnTo>
                <a:lnTo>
                  <a:pt x="200293" y="334774"/>
                </a:lnTo>
                <a:cubicBezTo>
                  <a:pt x="186005" y="327898"/>
                  <a:pt x="168235" y="315129"/>
                  <a:pt x="150912" y="291644"/>
                </a:cubicBezTo>
                <a:cubicBezTo>
                  <a:pt x="134481" y="287357"/>
                  <a:pt x="116622" y="280839"/>
                  <a:pt x="99209" y="271016"/>
                </a:cubicBezTo>
                <a:cubicBezTo>
                  <a:pt x="50899" y="243959"/>
                  <a:pt x="7322" y="192971"/>
                  <a:pt x="1072" y="101441"/>
                </a:cubicBezTo>
                <a:cubicBezTo>
                  <a:pt x="-625" y="76349"/>
                  <a:pt x="19824" y="57061"/>
                  <a:pt x="43130" y="57061"/>
                </a:cubicBezTo>
                <a:lnTo>
                  <a:pt x="87422" y="57061"/>
                </a:lnTo>
                <a:cubicBezTo>
                  <a:pt x="87154" y="52417"/>
                  <a:pt x="86975" y="47774"/>
                  <a:pt x="86797" y="42952"/>
                </a:cubicBezTo>
                <a:cubicBezTo>
                  <a:pt x="85904" y="19288"/>
                  <a:pt x="105192" y="-89"/>
                  <a:pt x="128855" y="-89"/>
                </a:cubicBezTo>
                <a:close/>
                <a:moveTo>
                  <a:pt x="90636" y="100013"/>
                </a:moveTo>
                <a:lnTo>
                  <a:pt x="43845" y="100013"/>
                </a:lnTo>
                <a:cubicBezTo>
                  <a:pt x="49381" y="175647"/>
                  <a:pt x="84118" y="213509"/>
                  <a:pt x="119926" y="233601"/>
                </a:cubicBezTo>
                <a:cubicBezTo>
                  <a:pt x="107067" y="200293"/>
                  <a:pt x="96441" y="156805"/>
                  <a:pt x="90636" y="100013"/>
                </a:cubicBezTo>
                <a:close/>
                <a:moveTo>
                  <a:pt x="339328" y="229314"/>
                </a:moveTo>
                <a:cubicBezTo>
                  <a:pt x="375493" y="208062"/>
                  <a:pt x="408176" y="170289"/>
                  <a:pt x="413712" y="100013"/>
                </a:cubicBezTo>
                <a:lnTo>
                  <a:pt x="367010" y="100013"/>
                </a:lnTo>
                <a:cubicBezTo>
                  <a:pt x="361474" y="154394"/>
                  <a:pt x="351473" y="196632"/>
                  <a:pt x="339328" y="229314"/>
                </a:cubicBezTo>
                <a:close/>
              </a:path>
            </a:pathLst>
          </a:cu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36000" y="3111500"/>
            <a:ext cx="6540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D4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on High-Performing Products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36000" y="3619500"/>
            <a:ext cx="6540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Prioritize Salad, Sandwich, and Smoothie — expand variations, bundle deals, and targeted marketing campaigns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397500"/>
            <a:ext cx="7175500" cy="27940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079500" y="571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57150"/>
                </a:moveTo>
                <a:cubicBezTo>
                  <a:pt x="12769" y="57150"/>
                  <a:pt x="0" y="69919"/>
                  <a:pt x="0" y="85725"/>
                </a:cubicBezTo>
                <a:cubicBezTo>
                  <a:pt x="0" y="101531"/>
                  <a:pt x="12769" y="114300"/>
                  <a:pt x="28575" y="114300"/>
                </a:cubicBezTo>
                <a:lnTo>
                  <a:pt x="105995" y="114300"/>
                </a:lnTo>
                <a:cubicBezTo>
                  <a:pt x="116979" y="139571"/>
                  <a:pt x="142161" y="157163"/>
                  <a:pt x="171450" y="157163"/>
                </a:cubicBezTo>
                <a:cubicBezTo>
                  <a:pt x="200739" y="157163"/>
                  <a:pt x="225921" y="139571"/>
                  <a:pt x="236905" y="114300"/>
                </a:cubicBezTo>
                <a:lnTo>
                  <a:pt x="428625" y="114300"/>
                </a:lnTo>
                <a:cubicBezTo>
                  <a:pt x="444431" y="114300"/>
                  <a:pt x="457200" y="101531"/>
                  <a:pt x="457200" y="85725"/>
                </a:cubicBezTo>
                <a:cubicBezTo>
                  <a:pt x="457200" y="69919"/>
                  <a:pt x="444431" y="57150"/>
                  <a:pt x="428625" y="57150"/>
                </a:cubicBezTo>
                <a:lnTo>
                  <a:pt x="236905" y="57150"/>
                </a:lnTo>
                <a:cubicBezTo>
                  <a:pt x="225921" y="31879"/>
                  <a:pt x="200739" y="14288"/>
                  <a:pt x="171450" y="14288"/>
                </a:cubicBezTo>
                <a:cubicBezTo>
                  <a:pt x="142161" y="14288"/>
                  <a:pt x="116979" y="31879"/>
                  <a:pt x="105995" y="57150"/>
                </a:cubicBezTo>
                <a:lnTo>
                  <a:pt x="28575" y="57150"/>
                </a:lnTo>
                <a:close/>
                <a:moveTo>
                  <a:pt x="28575" y="200025"/>
                </a:move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248870" y="257175"/>
                </a:lnTo>
                <a:cubicBezTo>
                  <a:pt x="259854" y="282446"/>
                  <a:pt x="285036" y="300038"/>
                  <a:pt x="314325" y="300038"/>
                </a:cubicBezTo>
                <a:cubicBezTo>
                  <a:pt x="343614" y="300038"/>
                  <a:pt x="368796" y="282446"/>
                  <a:pt x="379780" y="257175"/>
                </a:cubicBezTo>
                <a:lnTo>
                  <a:pt x="428625" y="257175"/>
                </a:lnTo>
                <a:cubicBezTo>
                  <a:pt x="444431" y="257175"/>
                  <a:pt x="457200" y="244406"/>
                  <a:pt x="457200" y="228600"/>
                </a:cubicBezTo>
                <a:cubicBezTo>
                  <a:pt x="457200" y="212794"/>
                  <a:pt x="444431" y="200025"/>
                  <a:pt x="428625" y="200025"/>
                </a:cubicBezTo>
                <a:lnTo>
                  <a:pt x="379780" y="200025"/>
                </a:lnTo>
                <a:cubicBezTo>
                  <a:pt x="368796" y="174754"/>
                  <a:pt x="343614" y="157163"/>
                  <a:pt x="314325" y="157163"/>
                </a:cubicBezTo>
                <a:cubicBezTo>
                  <a:pt x="285036" y="157163"/>
                  <a:pt x="259854" y="174754"/>
                  <a:pt x="248870" y="200025"/>
                </a:cubicBezTo>
                <a:lnTo>
                  <a:pt x="28575" y="200025"/>
                </a:lnTo>
                <a:close/>
                <a:moveTo>
                  <a:pt x="28575" y="342900"/>
                </a:moveTo>
                <a:cubicBezTo>
                  <a:pt x="12769" y="342900"/>
                  <a:pt x="0" y="355669"/>
                  <a:pt x="0" y="371475"/>
                </a:cubicBezTo>
                <a:cubicBezTo>
                  <a:pt x="0" y="387281"/>
                  <a:pt x="12769" y="400050"/>
                  <a:pt x="28575" y="400050"/>
                </a:cubicBezTo>
                <a:lnTo>
                  <a:pt x="77420" y="400050"/>
                </a:lnTo>
                <a:cubicBezTo>
                  <a:pt x="88404" y="425321"/>
                  <a:pt x="113586" y="442913"/>
                  <a:pt x="142875" y="442913"/>
                </a:cubicBezTo>
                <a:cubicBezTo>
                  <a:pt x="172164" y="442913"/>
                  <a:pt x="197346" y="425321"/>
                  <a:pt x="208330" y="400050"/>
                </a:cubicBezTo>
                <a:lnTo>
                  <a:pt x="428625" y="400050"/>
                </a:lnTo>
                <a:cubicBezTo>
                  <a:pt x="444431" y="400050"/>
                  <a:pt x="457200" y="387281"/>
                  <a:pt x="457200" y="371475"/>
                </a:cubicBezTo>
                <a:cubicBezTo>
                  <a:pt x="457200" y="355669"/>
                  <a:pt x="444431" y="342900"/>
                  <a:pt x="428625" y="342900"/>
                </a:cubicBezTo>
                <a:lnTo>
                  <a:pt x="208330" y="342900"/>
                </a:lnTo>
                <a:cubicBezTo>
                  <a:pt x="197346" y="317629"/>
                  <a:pt x="172164" y="300038"/>
                  <a:pt x="142875" y="300038"/>
                </a:cubicBezTo>
                <a:cubicBezTo>
                  <a:pt x="113586" y="300038"/>
                  <a:pt x="88404" y="317629"/>
                  <a:pt x="77420" y="342900"/>
                </a:cubicBezTo>
                <a:lnTo>
                  <a:pt x="28575" y="34290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79500" y="6350000"/>
            <a:ext cx="6540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Optimize Low-Performing Items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9500" y="6858000"/>
            <a:ext cx="6540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Re-evaluate pricing, placement, or recipes for underperforming products to improve their contribution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18500" y="5397500"/>
            <a:ext cx="7175500" cy="27940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693150" y="5715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0" y="168414"/>
                </a:moveTo>
                <a:cubicBezTo>
                  <a:pt x="0" y="75367"/>
                  <a:pt x="76795" y="0"/>
                  <a:pt x="171450" y="0"/>
                </a:cubicBezTo>
                <a:cubicBezTo>
                  <a:pt x="266105" y="0"/>
                  <a:pt x="342900" y="75367"/>
                  <a:pt x="342900" y="168414"/>
                </a:cubicBezTo>
                <a:cubicBezTo>
                  <a:pt x="342900" y="274945"/>
                  <a:pt x="235565" y="402640"/>
                  <a:pt x="190738" y="451306"/>
                </a:cubicBezTo>
                <a:cubicBezTo>
                  <a:pt x="180201" y="462736"/>
                  <a:pt x="162610" y="462736"/>
                  <a:pt x="152073" y="451306"/>
                </a:cubicBezTo>
                <a:cubicBezTo>
                  <a:pt x="107246" y="402640"/>
                  <a:pt x="-89" y="274945"/>
                  <a:pt x="-89" y="168414"/>
                </a:cubicBezTo>
                <a:close/>
                <a:moveTo>
                  <a:pt x="171450" y="228600"/>
                </a:moveTo>
                <a:cubicBezTo>
                  <a:pt x="202992" y="228600"/>
                  <a:pt x="228600" y="202992"/>
                  <a:pt x="228600" y="171450"/>
                </a:cubicBezTo>
                <a:cubicBezTo>
                  <a:pt x="228600" y="139908"/>
                  <a:pt x="202992" y="114300"/>
                  <a:pt x="171450" y="114300"/>
                </a:cubicBezTo>
                <a:cubicBezTo>
                  <a:pt x="139908" y="114300"/>
                  <a:pt x="114300" y="139908"/>
                  <a:pt x="114300" y="171450"/>
                </a:cubicBezTo>
                <a:cubicBezTo>
                  <a:pt x="114300" y="202992"/>
                  <a:pt x="139908" y="228600"/>
                  <a:pt x="171450" y="228600"/>
                </a:cubicBezTo>
                <a:close/>
              </a:path>
            </a:pathLst>
          </a:cu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636000" y="6350000"/>
            <a:ext cx="6540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D4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Leverage Location Insights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36000" y="6858000"/>
            <a:ext cx="6540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Tailor in-store experience and introduce takeaway-specific promotions to capture both segments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27000" y="86360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RECOMMENDATIONS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508000" cy="38100"/>
          </a:xfrm>
          <a:prstGeom prst="rect">
            <a:avLst/>
          </a:pr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10795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14732000" cy="54610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270000" y="266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905000" y="2540000"/>
            <a:ext cx="1308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DD4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storytelling transforms</a:t>
            </a:r>
            <a:r>
              <a:rPr lang="en-US" sz="20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raw numbers into clear business narratives that drive understanding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95400" y="3937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28600" y="0"/>
                </a:moveTo>
                <a:lnTo>
                  <a:pt x="101600" y="0"/>
                </a:lnTo>
                <a:cubicBezTo>
                  <a:pt x="87551" y="0"/>
                  <a:pt x="76200" y="11351"/>
                  <a:pt x="76200" y="25400"/>
                </a:cubicBezTo>
                <a:cubicBezTo>
                  <a:pt x="76200" y="39449"/>
                  <a:pt x="87551" y="50800"/>
                  <a:pt x="101600" y="50800"/>
                </a:cubicBezTo>
                <a:lnTo>
                  <a:pt x="101600" y="171053"/>
                </a:lnTo>
                <a:lnTo>
                  <a:pt x="5953" y="338376"/>
                </a:lnTo>
                <a:cubicBezTo>
                  <a:pt x="2064" y="345281"/>
                  <a:pt x="0" y="352981"/>
                  <a:pt x="0" y="360918"/>
                </a:cubicBezTo>
                <a:cubicBezTo>
                  <a:pt x="0" y="386080"/>
                  <a:pt x="20320" y="406400"/>
                  <a:pt x="45482" y="406400"/>
                </a:cubicBezTo>
                <a:lnTo>
                  <a:pt x="310118" y="406400"/>
                </a:lnTo>
                <a:cubicBezTo>
                  <a:pt x="335201" y="406400"/>
                  <a:pt x="355600" y="386080"/>
                  <a:pt x="355600" y="360918"/>
                </a:cubicBezTo>
                <a:cubicBezTo>
                  <a:pt x="355600" y="352981"/>
                  <a:pt x="353536" y="345202"/>
                  <a:pt x="349647" y="338376"/>
                </a:cubicBezTo>
                <a:lnTo>
                  <a:pt x="254000" y="171053"/>
                </a:lnTo>
                <a:lnTo>
                  <a:pt x="254000" y="50800"/>
                </a:lnTo>
                <a:cubicBezTo>
                  <a:pt x="268049" y="50800"/>
                  <a:pt x="279400" y="39449"/>
                  <a:pt x="279400" y="25400"/>
                </a:cubicBezTo>
                <a:cubicBezTo>
                  <a:pt x="279400" y="11351"/>
                  <a:pt x="268049" y="0"/>
                  <a:pt x="254000" y="0"/>
                </a:cubicBezTo>
                <a:lnTo>
                  <a:pt x="228600" y="0"/>
                </a:lnTo>
                <a:close/>
                <a:moveTo>
                  <a:pt x="152400" y="171053"/>
                </a:moveTo>
                <a:lnTo>
                  <a:pt x="152400" y="50800"/>
                </a:lnTo>
                <a:lnTo>
                  <a:pt x="203200" y="50800"/>
                </a:lnTo>
                <a:lnTo>
                  <a:pt x="203200" y="171053"/>
                </a:lnTo>
                <a:cubicBezTo>
                  <a:pt x="203200" y="179864"/>
                  <a:pt x="205502" y="188595"/>
                  <a:pt x="209868" y="196294"/>
                </a:cubicBezTo>
                <a:lnTo>
                  <a:pt x="242888" y="254000"/>
                </a:lnTo>
                <a:lnTo>
                  <a:pt x="112713" y="254000"/>
                </a:lnTo>
                <a:lnTo>
                  <a:pt x="145733" y="196294"/>
                </a:lnTo>
                <a:cubicBezTo>
                  <a:pt x="150098" y="188595"/>
                  <a:pt x="152400" y="179943"/>
                  <a:pt x="152400" y="171053"/>
                </a:cubicBezTo>
                <a:close/>
              </a:path>
            </a:pathLst>
          </a:cu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905000" y="3810000"/>
            <a:ext cx="1308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DD4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Statistical validation</a:t>
            </a:r>
            <a:r>
              <a:rPr lang="en-US" sz="20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(T-test) confirms that payment method significantly affects spending behavior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270000" y="520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203200"/>
                </a:moveTo>
                <a:cubicBezTo>
                  <a:pt x="355600" y="119088"/>
                  <a:pt x="287312" y="50800"/>
                  <a:pt x="203200" y="50800"/>
                </a:cubicBezTo>
                <a:cubicBezTo>
                  <a:pt x="119088" y="50800"/>
                  <a:pt x="50800" y="119088"/>
                  <a:pt x="50800" y="203200"/>
                </a:cubicBezTo>
                <a:cubicBezTo>
                  <a:pt x="50800" y="287312"/>
                  <a:pt x="119088" y="355600"/>
                  <a:pt x="203200" y="355600"/>
                </a:cubicBezTo>
                <a:cubicBezTo>
                  <a:pt x="287312" y="355600"/>
                  <a:pt x="355600" y="287312"/>
                  <a:pt x="355600" y="203200"/>
                </a:cubicBezTo>
                <a:close/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03200" y="266700"/>
                </a:moveTo>
                <a:cubicBezTo>
                  <a:pt x="238247" y="266700"/>
                  <a:pt x="266700" y="238247"/>
                  <a:pt x="266700" y="203200"/>
                </a:cubicBezTo>
                <a:cubicBezTo>
                  <a:pt x="266700" y="168153"/>
                  <a:pt x="238247" y="139700"/>
                  <a:pt x="203200" y="139700"/>
                </a:cubicBezTo>
                <a:cubicBezTo>
                  <a:pt x="168153" y="139700"/>
                  <a:pt x="139700" y="168153"/>
                  <a:pt x="139700" y="203200"/>
                </a:cubicBezTo>
                <a:cubicBezTo>
                  <a:pt x="139700" y="238247"/>
                  <a:pt x="168153" y="266700"/>
                  <a:pt x="203200" y="266700"/>
                </a:cubicBezTo>
                <a:close/>
                <a:moveTo>
                  <a:pt x="203200" y="88900"/>
                </a:moveTo>
                <a:cubicBezTo>
                  <a:pt x="266284" y="88900"/>
                  <a:pt x="317500" y="140116"/>
                  <a:pt x="317500" y="203200"/>
                </a:cubicBezTo>
                <a:cubicBezTo>
                  <a:pt x="317500" y="266284"/>
                  <a:pt x="266284" y="317500"/>
                  <a:pt x="203200" y="317500"/>
                </a:cubicBezTo>
                <a:cubicBezTo>
                  <a:pt x="140116" y="317500"/>
                  <a:pt x="88900" y="266284"/>
                  <a:pt x="88900" y="203200"/>
                </a:cubicBezTo>
                <a:cubicBezTo>
                  <a:pt x="88900" y="140116"/>
                  <a:pt x="140116" y="88900"/>
                  <a:pt x="203200" y="88900"/>
                </a:cubicBezTo>
                <a:close/>
                <a:moveTo>
                  <a:pt x="177800" y="203200"/>
                </a:moveTo>
                <a:cubicBezTo>
                  <a:pt x="177800" y="189181"/>
                  <a:pt x="189181" y="177800"/>
                  <a:pt x="203200" y="177800"/>
                </a:cubicBezTo>
                <a:cubicBezTo>
                  <a:pt x="217219" y="177800"/>
                  <a:pt x="228600" y="189181"/>
                  <a:pt x="228600" y="203200"/>
                </a:cubicBezTo>
                <a:cubicBezTo>
                  <a:pt x="228600" y="217219"/>
                  <a:pt x="217219" y="228600"/>
                  <a:pt x="203200" y="228600"/>
                </a:cubicBezTo>
                <a:cubicBezTo>
                  <a:pt x="189181" y="228600"/>
                  <a:pt x="177800" y="217219"/>
                  <a:pt x="177800" y="203200"/>
                </a:cubicBezTo>
                <a:close/>
              </a:path>
            </a:pathLst>
          </a:cu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905000" y="5080000"/>
            <a:ext cx="1308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DD4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drivers identified:</a:t>
            </a:r>
            <a:r>
              <a:rPr lang="en-US" sz="20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In-store presence, digital payments, and top-performing products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70000" y="647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254000"/>
                </a:moveTo>
                <a:lnTo>
                  <a:pt x="19447" y="254000"/>
                </a:lnTo>
                <a:cubicBezTo>
                  <a:pt x="-317" y="254000"/>
                  <a:pt x="-12462" y="232489"/>
                  <a:pt x="-2302" y="215503"/>
                </a:cubicBezTo>
                <a:lnTo>
                  <a:pt x="39688" y="145494"/>
                </a:lnTo>
                <a:cubicBezTo>
                  <a:pt x="46593" y="133985"/>
                  <a:pt x="58976" y="127000"/>
                  <a:pt x="72390" y="127000"/>
                </a:cubicBezTo>
                <a:lnTo>
                  <a:pt x="147796" y="127000"/>
                </a:lnTo>
                <a:cubicBezTo>
                  <a:pt x="208201" y="24686"/>
                  <a:pt x="298291" y="19526"/>
                  <a:pt x="358537" y="28337"/>
                </a:cubicBezTo>
                <a:cubicBezTo>
                  <a:pt x="368697" y="29845"/>
                  <a:pt x="376634" y="37783"/>
                  <a:pt x="378063" y="47863"/>
                </a:cubicBezTo>
                <a:cubicBezTo>
                  <a:pt x="386874" y="108109"/>
                  <a:pt x="381714" y="198199"/>
                  <a:pt x="279400" y="258604"/>
                </a:cubicBezTo>
                <a:lnTo>
                  <a:pt x="279400" y="334010"/>
                </a:lnTo>
                <a:cubicBezTo>
                  <a:pt x="279400" y="347424"/>
                  <a:pt x="272415" y="359807"/>
                  <a:pt x="260906" y="366713"/>
                </a:cubicBezTo>
                <a:lnTo>
                  <a:pt x="190897" y="408702"/>
                </a:lnTo>
                <a:cubicBezTo>
                  <a:pt x="173990" y="418862"/>
                  <a:pt x="152400" y="406638"/>
                  <a:pt x="152400" y="386953"/>
                </a:cubicBezTo>
                <a:lnTo>
                  <a:pt x="152400" y="304800"/>
                </a:lnTo>
                <a:cubicBezTo>
                  <a:pt x="152400" y="276781"/>
                  <a:pt x="129619" y="254000"/>
                  <a:pt x="101600" y="254000"/>
                </a:cubicBezTo>
                <a:lnTo>
                  <a:pt x="101521" y="254000"/>
                </a:lnTo>
                <a:close/>
                <a:moveTo>
                  <a:pt x="317500" y="127000"/>
                </a:moveTo>
                <a:cubicBezTo>
                  <a:pt x="317500" y="105972"/>
                  <a:pt x="300428" y="88900"/>
                  <a:pt x="279400" y="88900"/>
                </a:cubicBezTo>
                <a:cubicBezTo>
                  <a:pt x="258372" y="88900"/>
                  <a:pt x="241300" y="105972"/>
                  <a:pt x="241300" y="127000"/>
                </a:cubicBezTo>
                <a:cubicBezTo>
                  <a:pt x="241300" y="148028"/>
                  <a:pt x="258372" y="165100"/>
                  <a:pt x="279400" y="165100"/>
                </a:cubicBezTo>
                <a:cubicBezTo>
                  <a:pt x="300428" y="165100"/>
                  <a:pt x="317500" y="148028"/>
                  <a:pt x="317500" y="12700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905000" y="6350000"/>
            <a:ext cx="1308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Business Impact:</a:t>
            </a:r>
            <a:r>
              <a:rPr lang="en-US" sz="20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Data-driven decisions on payment promotions, product focus, and location strategy can significantly improve revenue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589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kern="0" spc="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8000" y="2540000"/>
            <a:ext cx="1270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400" kern="0" spc="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6858000" y="4064000"/>
            <a:ext cx="2540000" cy="38100"/>
          </a:xfrm>
          <a:prstGeom prst="rect">
            <a:avLst/>
          </a:pr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048000" y="444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Storytelling &amp; Statistical Validation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318000" y="5461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2DD4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LinkedIn:</a:t>
            </a: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https://www.linkedin.com/in/rakeshkumar1029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85100" y="6858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457200" y="171450"/>
                </a:moveTo>
                <a:cubicBezTo>
                  <a:pt x="457200" y="287179"/>
                  <a:pt x="354806" y="381000"/>
                  <a:pt x="228600" y="381000"/>
                </a:cubicBezTo>
                <a:cubicBezTo>
                  <a:pt x="196810" y="381000"/>
                  <a:pt x="166568" y="375047"/>
                  <a:pt x="139065" y="364331"/>
                </a:cubicBezTo>
                <a:lnTo>
                  <a:pt x="41910" y="415766"/>
                </a:lnTo>
                <a:cubicBezTo>
                  <a:pt x="30837" y="421600"/>
                  <a:pt x="17264" y="419576"/>
                  <a:pt x="8334" y="410766"/>
                </a:cubicBezTo>
                <a:cubicBezTo>
                  <a:pt x="-595" y="401955"/>
                  <a:pt x="-2619" y="388263"/>
                  <a:pt x="3334" y="377190"/>
                </a:cubicBezTo>
                <a:lnTo>
                  <a:pt x="45720" y="297180"/>
                </a:lnTo>
                <a:cubicBezTo>
                  <a:pt x="17026" y="262176"/>
                  <a:pt x="0" y="218599"/>
                  <a:pt x="0" y="171450"/>
                </a:cubicBezTo>
                <a:cubicBezTo>
                  <a:pt x="0" y="55721"/>
                  <a:pt x="102394" y="-38100"/>
                  <a:pt x="228600" y="-38100"/>
                </a:cubicBezTo>
                <a:cubicBezTo>
                  <a:pt x="354806" y="-38100"/>
                  <a:pt x="457200" y="55721"/>
                  <a:pt x="457200" y="171450"/>
                </a:cubicBezTo>
                <a:close/>
                <a:moveTo>
                  <a:pt x="457200" y="609600"/>
                </a:moveTo>
                <a:cubicBezTo>
                  <a:pt x="345162" y="609600"/>
                  <a:pt x="251936" y="535662"/>
                  <a:pt x="232410" y="438150"/>
                </a:cubicBezTo>
                <a:cubicBezTo>
                  <a:pt x="375285" y="436364"/>
                  <a:pt x="499467" y="334685"/>
                  <a:pt x="513159" y="196810"/>
                </a:cubicBezTo>
                <a:cubicBezTo>
                  <a:pt x="612338" y="219670"/>
                  <a:pt x="685800" y="301943"/>
                  <a:pt x="685800" y="400050"/>
                </a:cubicBezTo>
                <a:cubicBezTo>
                  <a:pt x="685800" y="447199"/>
                  <a:pt x="668774" y="490776"/>
                  <a:pt x="640080" y="525780"/>
                </a:cubicBezTo>
                <a:lnTo>
                  <a:pt x="682466" y="605790"/>
                </a:lnTo>
                <a:cubicBezTo>
                  <a:pt x="688300" y="616863"/>
                  <a:pt x="686276" y="630436"/>
                  <a:pt x="677466" y="639366"/>
                </a:cubicBezTo>
                <a:cubicBezTo>
                  <a:pt x="668655" y="648295"/>
                  <a:pt x="654963" y="650319"/>
                  <a:pt x="643890" y="644366"/>
                </a:cubicBezTo>
                <a:lnTo>
                  <a:pt x="546735" y="592931"/>
                </a:lnTo>
                <a:cubicBezTo>
                  <a:pt x="519232" y="603647"/>
                  <a:pt x="488990" y="609600"/>
                  <a:pt x="457200" y="609600"/>
                </a:cubicBezTo>
                <a:close/>
              </a:path>
            </a:pathLst>
          </a:custGeom>
          <a:solidFill>
            <a:srgbClr val="2DD4A8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815</Words>
  <Application>Microsoft Office PowerPoint</Application>
  <PresentationFormat>Custom</PresentationFormat>
  <Paragraphs>152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Quattrocento Sans</vt:lpstr>
      <vt:lpstr>Liter</vt:lpstr>
      <vt:lpstr>QuattrocentoSans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Storytelling &amp; Statistical Validation</dc:title>
  <dc:subject>Data Storytelling &amp; Statistical Validation</dc:subject>
  <dc:creator>Kimi</dc:creator>
  <cp:lastModifiedBy>Rakesh k</cp:lastModifiedBy>
  <cp:revision>1</cp:revision>
  <dcterms:created xsi:type="dcterms:W3CDTF">2026-05-06T12:48:54Z</dcterms:created>
  <dcterms:modified xsi:type="dcterms:W3CDTF">2026-05-10T08:46:20Z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{"Label":"Data Storytelling &amp; Statistical Validation","ContentProducer":"001191110108MACG2KBH8F10000","ProduceID":"19dfd52c-9f82-8834-8000-000008ee289d","ReservedCode1":"","ContentPropagator":"001191110108MACG2KBH8F20000","PropagateID":"19dfd52c-9f82-8834-8000-000008ee289d","ReservedCode2":""}</vt:lpwstr>
  </property>
</Properties>
</file>